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33"/>
  </p:notesMasterIdLst>
  <p:handoutMasterIdLst>
    <p:handoutMasterId r:id="rId34"/>
  </p:handoutMasterIdLst>
  <p:sldIdLst>
    <p:sldId id="503" r:id="rId2"/>
    <p:sldId id="1143" r:id="rId3"/>
    <p:sldId id="1155" r:id="rId4"/>
    <p:sldId id="1142" r:id="rId5"/>
    <p:sldId id="961" r:id="rId6"/>
    <p:sldId id="962" r:id="rId7"/>
    <p:sldId id="964" r:id="rId8"/>
    <p:sldId id="790" r:id="rId9"/>
    <p:sldId id="968" r:id="rId10"/>
    <p:sldId id="969" r:id="rId11"/>
    <p:sldId id="1148" r:id="rId12"/>
    <p:sldId id="1149" r:id="rId13"/>
    <p:sldId id="1150" r:id="rId14"/>
    <p:sldId id="1151" r:id="rId15"/>
    <p:sldId id="1146" r:id="rId16"/>
    <p:sldId id="1152" r:id="rId17"/>
    <p:sldId id="1153" r:id="rId18"/>
    <p:sldId id="784" r:id="rId19"/>
    <p:sldId id="1154" r:id="rId20"/>
    <p:sldId id="1136" r:id="rId21"/>
    <p:sldId id="971" r:id="rId22"/>
    <p:sldId id="1144" r:id="rId23"/>
    <p:sldId id="1159" r:id="rId24"/>
    <p:sldId id="1156" r:id="rId25"/>
    <p:sldId id="1158" r:id="rId26"/>
    <p:sldId id="1157" r:id="rId27"/>
    <p:sldId id="1160" r:id="rId28"/>
    <p:sldId id="1161" r:id="rId29"/>
    <p:sldId id="1162" r:id="rId30"/>
    <p:sldId id="1132" r:id="rId31"/>
    <p:sldId id="1147" r:id="rId32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intro" id="{B9838257-F6AF-45A1-B51E-022CA6D5619D}">
          <p14:sldIdLst>
            <p14:sldId id="503"/>
          </p14:sldIdLst>
        </p14:section>
        <p14:section name="classification_foundation_models" id="{FD2D8CA5-92B1-449C-97F6-1BD0918EFC3F}">
          <p14:sldIdLst>
            <p14:sldId id="1143"/>
            <p14:sldId id="1155"/>
            <p14:sldId id="1142"/>
            <p14:sldId id="961"/>
            <p14:sldId id="962"/>
            <p14:sldId id="964"/>
            <p14:sldId id="790"/>
            <p14:sldId id="968"/>
            <p14:sldId id="969"/>
            <p14:sldId id="1148"/>
            <p14:sldId id="1149"/>
            <p14:sldId id="1150"/>
            <p14:sldId id="1151"/>
            <p14:sldId id="1146"/>
            <p14:sldId id="1152"/>
            <p14:sldId id="1153"/>
            <p14:sldId id="784"/>
            <p14:sldId id="1154"/>
            <p14:sldId id="1136"/>
            <p14:sldId id="971"/>
            <p14:sldId id="1144"/>
            <p14:sldId id="1159"/>
            <p14:sldId id="1156"/>
            <p14:sldId id="1158"/>
            <p14:sldId id="1157"/>
            <p14:sldId id="1160"/>
            <p14:sldId id="1161"/>
            <p14:sldId id="1162"/>
          </p14:sldIdLst>
        </p14:section>
        <p14:section name="legacy" id="{F77CC5A7-E385-42D6-9A23-246F89975173}">
          <p14:sldIdLst>
            <p14:sldId id="1132"/>
            <p14:sldId id="11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-Hsuan Yang" initials="YHY" lastIdx="1" clrIdx="0">
    <p:extLst>
      <p:ext uri="{19B8F6BF-5375-455C-9EA6-DF929625EA0E}">
        <p15:presenceInfo xmlns:p15="http://schemas.microsoft.com/office/powerpoint/2012/main" userId="3243898906c5e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CCCC"/>
    <a:srgbClr val="0066FF"/>
    <a:srgbClr val="9A0000"/>
    <a:srgbClr val="99CCFF"/>
    <a:srgbClr val="FF9999"/>
    <a:srgbClr val="FF7C80"/>
    <a:srgbClr val="151D26"/>
    <a:srgbClr val="EB8E27"/>
    <a:srgbClr val="DFA8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88132" autoAdjust="0"/>
  </p:normalViewPr>
  <p:slideViewPr>
    <p:cSldViewPr>
      <p:cViewPr>
        <p:scale>
          <a:sx n="75" d="100"/>
          <a:sy n="75" d="100"/>
        </p:scale>
        <p:origin x="1896" y="5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44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t" anchorCtr="0" compatLnSpc="1">
            <a:prstTxWarp prst="textNoShape">
              <a:avLst/>
            </a:prstTxWarp>
          </a:bodyPr>
          <a:lstStyle>
            <a:lvl1pPr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164" y="2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t" anchorCtr="0" compatLnSpc="1">
            <a:prstTxWarp prst="textNoShape">
              <a:avLst/>
            </a:prstTxWarp>
          </a:bodyPr>
          <a:lstStyle>
            <a:lvl1pPr algn="r"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94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b" anchorCtr="0" compatLnSpc="1">
            <a:prstTxWarp prst="textNoShape">
              <a:avLst/>
            </a:prstTxWarp>
          </a:bodyPr>
          <a:lstStyle>
            <a:lvl1pPr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164" y="9722394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b" anchorCtr="0" compatLnSpc="1">
            <a:prstTxWarp prst="textNoShape">
              <a:avLst/>
            </a:prstTxWarp>
          </a:bodyPr>
          <a:lstStyle>
            <a:lvl1pPr algn="r"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fld id="{5D42011E-7D92-436A-AC22-4F8684FE3735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947764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t" anchorCtr="0" compatLnSpc="1">
            <a:prstTxWarp prst="textNoShape">
              <a:avLst/>
            </a:prstTxWarp>
          </a:bodyPr>
          <a:lstStyle>
            <a:lvl1pPr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164" y="2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t" anchorCtr="0" compatLnSpc="1">
            <a:prstTxWarp prst="textNoShape">
              <a:avLst/>
            </a:prstTxWarp>
          </a:bodyPr>
          <a:lstStyle>
            <a:lvl1pPr algn="r"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525" y="766763"/>
            <a:ext cx="6826250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00" y="4862017"/>
            <a:ext cx="5680103" cy="460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94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b" anchorCtr="0" compatLnSpc="1">
            <a:prstTxWarp prst="textNoShape">
              <a:avLst/>
            </a:prstTxWarp>
          </a:bodyPr>
          <a:lstStyle>
            <a:lvl1pPr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164" y="9722394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01" tIns="47451" rIns="94901" bIns="47451" numCol="1" anchor="b" anchorCtr="0" compatLnSpc="1">
            <a:prstTxWarp prst="textNoShape">
              <a:avLst/>
            </a:prstTxWarp>
          </a:bodyPr>
          <a:lstStyle>
            <a:lvl1pPr algn="r" defTabSz="949238">
              <a:defRPr sz="1200">
                <a:cs typeface="Arial" charset="0"/>
              </a:defRPr>
            </a:lvl1pPr>
          </a:lstStyle>
          <a:p>
            <a:pPr>
              <a:defRPr/>
            </a:pPr>
            <a:fld id="{E03F772D-7FE6-4D25-AD80-FF899BF08D20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255209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4022164" y="9722394"/>
            <a:ext cx="3075480" cy="51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901" tIns="47451" rIns="94901" bIns="47451" anchor="b"/>
          <a:lstStyle/>
          <a:p>
            <a:pPr algn="r" defTabSz="949238"/>
            <a:fld id="{2CEFF54A-7A8B-4C43-ABE3-5D0E77DBF1AF}" type="slidenum">
              <a:rPr lang="en-US" altLang="zh-TW" sz="1200"/>
              <a:pPr algn="r" defTabSz="949238"/>
              <a:t>1</a:t>
            </a:fld>
            <a:endParaRPr lang="en-US" altLang="zh-TW" sz="1200" dirty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66763"/>
            <a:ext cx="6826250" cy="3840162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69569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3"/>
          <p:cNvGrpSpPr>
            <a:grpSpLocks/>
          </p:cNvGrpSpPr>
          <p:nvPr userDrawn="1"/>
        </p:nvGrpSpPr>
        <p:grpSpPr bwMode="auto">
          <a:xfrm>
            <a:off x="4288371" y="5775332"/>
            <a:ext cx="2190751" cy="987425"/>
            <a:chOff x="-196" y="3137"/>
            <a:chExt cx="1352" cy="813"/>
          </a:xfrm>
        </p:grpSpPr>
        <p:sp>
          <p:nvSpPr>
            <p:cNvPr id="3" name="Oval 64"/>
            <p:cNvSpPr>
              <a:spLocks noChangeArrowheads="1"/>
            </p:cNvSpPr>
            <p:nvPr userDrawn="1"/>
          </p:nvSpPr>
          <p:spPr bwMode="auto">
            <a:xfrm>
              <a:off x="600" y="3137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" name="Oval 65"/>
            <p:cNvSpPr>
              <a:spLocks noChangeArrowheads="1"/>
            </p:cNvSpPr>
            <p:nvPr userDrawn="1"/>
          </p:nvSpPr>
          <p:spPr bwMode="auto">
            <a:xfrm>
              <a:off x="1028" y="3476"/>
              <a:ext cx="128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" name="Oval 66"/>
            <p:cNvSpPr>
              <a:spLocks noChangeArrowheads="1"/>
            </p:cNvSpPr>
            <p:nvPr userDrawn="1"/>
          </p:nvSpPr>
          <p:spPr bwMode="auto">
            <a:xfrm>
              <a:off x="731" y="3627"/>
              <a:ext cx="128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" name="Oval 67"/>
            <p:cNvSpPr>
              <a:spLocks noChangeArrowheads="1"/>
            </p:cNvSpPr>
            <p:nvPr userDrawn="1"/>
          </p:nvSpPr>
          <p:spPr bwMode="auto">
            <a:xfrm>
              <a:off x="296" y="3859"/>
              <a:ext cx="90" cy="9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Oval 68"/>
            <p:cNvSpPr>
              <a:spLocks noChangeArrowheads="1"/>
            </p:cNvSpPr>
            <p:nvPr userDrawn="1"/>
          </p:nvSpPr>
          <p:spPr bwMode="auto">
            <a:xfrm>
              <a:off x="-196" y="3265"/>
              <a:ext cx="90" cy="9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Oval 69"/>
            <p:cNvSpPr>
              <a:spLocks noChangeArrowheads="1"/>
            </p:cNvSpPr>
            <p:nvPr userDrawn="1"/>
          </p:nvSpPr>
          <p:spPr bwMode="auto">
            <a:xfrm>
              <a:off x="-60" y="3438"/>
              <a:ext cx="182" cy="18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9" name="Line 70"/>
            <p:cNvSpPr>
              <a:spLocks noChangeShapeType="1"/>
            </p:cNvSpPr>
            <p:nvPr userDrawn="1"/>
          </p:nvSpPr>
          <p:spPr bwMode="auto">
            <a:xfrm flipH="1">
              <a:off x="567" y="3521"/>
              <a:ext cx="453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0" name="Line 71"/>
            <p:cNvSpPr>
              <a:spLocks noChangeShapeType="1"/>
            </p:cNvSpPr>
            <p:nvPr userDrawn="1"/>
          </p:nvSpPr>
          <p:spPr bwMode="auto">
            <a:xfrm flipH="1">
              <a:off x="-106" y="3310"/>
              <a:ext cx="453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1" name="Line 72"/>
            <p:cNvSpPr>
              <a:spLocks noChangeShapeType="1"/>
            </p:cNvSpPr>
            <p:nvPr userDrawn="1"/>
          </p:nvSpPr>
          <p:spPr bwMode="auto">
            <a:xfrm>
              <a:off x="347" y="3302"/>
              <a:ext cx="226" cy="227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2" name="Line 73"/>
            <p:cNvSpPr>
              <a:spLocks noChangeShapeType="1"/>
            </p:cNvSpPr>
            <p:nvPr userDrawn="1"/>
          </p:nvSpPr>
          <p:spPr bwMode="auto">
            <a:xfrm flipH="1">
              <a:off x="340" y="3249"/>
              <a:ext cx="273" cy="272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3" name="Line 74"/>
            <p:cNvSpPr>
              <a:spLocks noChangeShapeType="1"/>
            </p:cNvSpPr>
            <p:nvPr userDrawn="1"/>
          </p:nvSpPr>
          <p:spPr bwMode="auto">
            <a:xfrm>
              <a:off x="0" y="3521"/>
              <a:ext cx="340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4" name="Line 75"/>
            <p:cNvSpPr>
              <a:spLocks noChangeShapeType="1"/>
            </p:cNvSpPr>
            <p:nvPr userDrawn="1"/>
          </p:nvSpPr>
          <p:spPr bwMode="auto">
            <a:xfrm>
              <a:off x="340" y="3521"/>
              <a:ext cx="0" cy="408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5" name="Line 76"/>
            <p:cNvSpPr>
              <a:spLocks noChangeShapeType="1"/>
            </p:cNvSpPr>
            <p:nvPr userDrawn="1"/>
          </p:nvSpPr>
          <p:spPr bwMode="auto">
            <a:xfrm flipH="1">
              <a:off x="340" y="3686"/>
              <a:ext cx="409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pic>
        <p:nvPicPr>
          <p:cNvPr id="16" name="Picture 105" descr="圖片1"/>
          <p:cNvPicPr>
            <a:picLocks noChangeAspect="1" noChangeArrowheads="1"/>
          </p:cNvPicPr>
          <p:nvPr userDrawn="1"/>
        </p:nvPicPr>
        <p:blipFill>
          <a:blip r:embed="rId3" cstate="print"/>
          <a:srcRect t="8401" r="15596" b="24275"/>
          <a:stretch>
            <a:fillRect/>
          </a:stretch>
        </p:blipFill>
        <p:spPr bwMode="auto">
          <a:xfrm>
            <a:off x="7071784" y="1"/>
            <a:ext cx="5120216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06" descr="圖片1"/>
          <p:cNvPicPr>
            <a:picLocks noChangeAspect="1" noChangeArrowheads="1"/>
          </p:cNvPicPr>
          <p:nvPr userDrawn="1"/>
        </p:nvPicPr>
        <p:blipFill>
          <a:blip r:embed="rId4" cstate="print"/>
          <a:srcRect t="28891" r="21906"/>
          <a:stretch>
            <a:fillRect/>
          </a:stretch>
        </p:blipFill>
        <p:spPr bwMode="auto">
          <a:xfrm>
            <a:off x="8879422" y="5084763"/>
            <a:ext cx="3312583" cy="136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07" descr="圖片2"/>
          <p:cNvPicPr>
            <a:picLocks noChangeAspect="1" noChangeArrowheads="1"/>
          </p:cNvPicPr>
          <p:nvPr userDrawn="1"/>
        </p:nvPicPr>
        <p:blipFill>
          <a:blip r:embed="rId5" cstate="print"/>
          <a:srcRect l="14632"/>
          <a:stretch>
            <a:fillRect/>
          </a:stretch>
        </p:blipFill>
        <p:spPr bwMode="auto">
          <a:xfrm>
            <a:off x="1" y="4979995"/>
            <a:ext cx="2457451" cy="130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08" descr="圖片2"/>
          <p:cNvPicPr>
            <a:picLocks noChangeAspect="1" noChangeArrowheads="1"/>
          </p:cNvPicPr>
          <p:nvPr userDrawn="1"/>
        </p:nvPicPr>
        <p:blipFill>
          <a:blip r:embed="rId5" cstate="print"/>
          <a:srcRect b="21786"/>
          <a:stretch>
            <a:fillRect/>
          </a:stretch>
        </p:blipFill>
        <p:spPr bwMode="auto">
          <a:xfrm>
            <a:off x="1392767" y="5940432"/>
            <a:ext cx="25908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B5E3724-9DAB-43D0-A63F-D412E26DDA07}"/>
              </a:ext>
            </a:extLst>
          </p:cNvPr>
          <p:cNvSpPr/>
          <p:nvPr userDrawn="1"/>
        </p:nvSpPr>
        <p:spPr bwMode="auto">
          <a:xfrm>
            <a:off x="1" y="0"/>
            <a:ext cx="12240683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4" y="188913"/>
            <a:ext cx="11137237" cy="914400"/>
          </a:xfrm>
        </p:spPr>
        <p:txBody>
          <a:bodyPr/>
          <a:lstStyle>
            <a:lvl1pPr>
              <a:defRPr sz="3600" b="1" i="0" baseline="0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1" y="1124744"/>
            <a:ext cx="11137900" cy="4968552"/>
          </a:xfrm>
        </p:spPr>
        <p:txBody>
          <a:bodyPr/>
          <a:lstStyle>
            <a:lvl1pPr>
              <a:buClr>
                <a:schemeClr val="accent4">
                  <a:lumMod val="65000"/>
                  <a:lumOff val="35000"/>
                </a:schemeClr>
              </a:buClr>
              <a:defRPr baseline="0">
                <a:latin typeface="Calibri" pitchFamily="34" charset="0"/>
              </a:defRPr>
            </a:lvl1pPr>
            <a:lvl2pPr>
              <a:defRPr baseline="0">
                <a:latin typeface="Calibri" pitchFamily="34" charset="0"/>
              </a:defRPr>
            </a:lvl2pPr>
            <a:lvl3pPr marL="1142971" indent="-228594">
              <a:buClr>
                <a:schemeClr val="accent2"/>
              </a:buClr>
              <a:buFont typeface="Calibri" panose="020F0502020204030204" pitchFamily="34" charset="0"/>
              <a:buChar char="◦"/>
              <a:defRPr baseline="0">
                <a:latin typeface="Calibri" pitchFamily="34" charset="0"/>
              </a:defRPr>
            </a:lvl3pPr>
            <a:lvl4pPr>
              <a:defRPr baseline="0">
                <a:latin typeface="Calibri" pitchFamily="34" charset="0"/>
              </a:defRPr>
            </a:lvl4pPr>
            <a:lvl5pPr>
              <a:defRPr baseline="0"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5561A-EF35-4F10-A947-9F83BB7BD27B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29D221-26EC-4AF7-B12E-0B78CE674913}"/>
              </a:ext>
            </a:extLst>
          </p:cNvPr>
          <p:cNvSpPr/>
          <p:nvPr userDrawn="1"/>
        </p:nvSpPr>
        <p:spPr bwMode="auto">
          <a:xfrm>
            <a:off x="-48683" y="6165304"/>
            <a:ext cx="10753195" cy="6480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56D91-6C99-4244-940E-CFEA83FF3AB1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28775"/>
            <a:ext cx="5181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28775"/>
            <a:ext cx="5181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FDF24-2E45-4E15-A092-915C80591613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5561A-EF35-4F10-A947-9F83BB7BD27B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0"/>
          </p:nvPr>
        </p:nvSpPr>
        <p:spPr>
          <a:xfrm>
            <a:off x="527051" y="6237288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55801-0A42-4FEA-8589-B312E9037FB9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ftr" sz="quarter" idx="10"/>
          </p:nvPr>
        </p:nvSpPr>
        <p:spPr>
          <a:xfrm>
            <a:off x="527051" y="6237288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979A9-8D95-469F-8616-C69CC7172EEF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6B7D3-132B-4048-AF8F-90652DB37BE3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3530E-F2EC-44C5-B55D-C53452E13045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38412-9751-404C-93EF-BC1A0089C288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4317" y="188913"/>
            <a:ext cx="2664883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9" y="188913"/>
            <a:ext cx="7791451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D7D25-4FF0-4A08-A62E-FC992996E8B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71" y="188913"/>
            <a:ext cx="10206567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628775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28775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049DA-1715-4332-8288-49BA63C99CE9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6" name="Line 4"/>
          <p:cNvSpPr>
            <a:spLocks noChangeShapeType="1"/>
          </p:cNvSpPr>
          <p:nvPr/>
        </p:nvSpPr>
        <p:spPr bwMode="auto">
          <a:xfrm>
            <a:off x="0" y="1192213"/>
            <a:ext cx="10769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19671" y="188913"/>
            <a:ext cx="1020656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341438"/>
            <a:ext cx="11137900" cy="463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  第二層</a:t>
            </a:r>
          </a:p>
          <a:p>
            <a:pPr lvl="2"/>
            <a:r>
              <a:rPr lang="zh-TW" altLang="en-US" dirty="0"/>
              <a:t>  第三層</a:t>
            </a:r>
          </a:p>
          <a:p>
            <a:pPr lvl="3"/>
            <a:r>
              <a:rPr lang="zh-TW" altLang="en-US" dirty="0"/>
              <a:t>  第四層</a:t>
            </a:r>
          </a:p>
          <a:p>
            <a:pPr lvl="4"/>
            <a:r>
              <a:rPr lang="zh-TW" altLang="en-US" dirty="0"/>
              <a:t> 第五層</a:t>
            </a:r>
          </a:p>
        </p:txBody>
      </p:sp>
      <p:pic>
        <p:nvPicPr>
          <p:cNvPr id="1030" name="Picture 12" descr="C:\Documents and Settings\yuchiaw\Desktop\citi-template-for-Prof.-frank-wang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-48680" y="6223388"/>
            <a:ext cx="10849207" cy="63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991851" y="6381757"/>
            <a:ext cx="1056216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5561A-EF35-4F10-A947-9F83BB7BD27B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75" r:id="rId3"/>
    <p:sldLayoutId id="2147483776" r:id="rId4"/>
    <p:sldLayoutId id="2147483777" r:id="rId5"/>
    <p:sldLayoutId id="2147483785" r:id="rId6"/>
    <p:sldLayoutId id="2147483786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標楷體" pitchFamily="65" charset="-120"/>
          <a:ea typeface="標楷體" pitchFamily="65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itchFamily="18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itchFamily="18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itchFamily="18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itchFamily="18" charset="0"/>
          <a:ea typeface="新細明體" pitchFamily="18" charset="-120"/>
        </a:defRPr>
      </a:lvl5pPr>
      <a:lvl6pPr marL="457189" algn="l" rtl="0" fontAlgn="base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charset="0"/>
          <a:ea typeface="新細明體" pitchFamily="18" charset="-120"/>
        </a:defRPr>
      </a:lvl6pPr>
      <a:lvl7pPr marL="914377" algn="l" rtl="0" fontAlgn="base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charset="0"/>
          <a:ea typeface="新細明體" pitchFamily="18" charset="-120"/>
        </a:defRPr>
      </a:lvl7pPr>
      <a:lvl8pPr marL="1371566" algn="l" rtl="0" fontAlgn="base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charset="0"/>
          <a:ea typeface="新細明體" pitchFamily="18" charset="-120"/>
        </a:defRPr>
      </a:lvl8pPr>
      <a:lvl9pPr marL="1828754" algn="l" rtl="0" fontAlgn="base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charset="0"/>
          <a:ea typeface="新細明體" pitchFamily="18" charset="-12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Arial" charset="0"/>
        <a:buChar char="•"/>
        <a:defRPr kumimoji="1" sz="3200">
          <a:solidFill>
            <a:schemeClr val="tx1"/>
          </a:solidFill>
          <a:latin typeface="標楷體" pitchFamily="65" charset="-120"/>
          <a:ea typeface="標楷體" pitchFamily="65" charset="-120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Font typeface="標楷體" panose="03000509000000000000" pitchFamily="65" charset="-120"/>
        <a:buChar char="–"/>
        <a:defRPr kumimoji="1" sz="2800">
          <a:solidFill>
            <a:schemeClr val="tx1"/>
          </a:solidFill>
          <a:latin typeface="標楷體" pitchFamily="65" charset="-120"/>
          <a:ea typeface="標楷體" pitchFamily="65" charset="-120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rgbClr val="00CCFF"/>
        </a:buClr>
        <a:buFont typeface="Wingdings" pitchFamily="2" charset="2"/>
        <a:buChar char="u"/>
        <a:defRPr kumimoji="1" sz="2400">
          <a:solidFill>
            <a:schemeClr val="tx1"/>
          </a:solidFill>
          <a:latin typeface="標楷體" pitchFamily="65" charset="-120"/>
          <a:ea typeface="標楷體" pitchFamily="65" charset="-120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p"/>
        <a:defRPr kumimoji="1" sz="2000">
          <a:solidFill>
            <a:schemeClr val="tx1"/>
          </a:solidFill>
          <a:latin typeface="標楷體" pitchFamily="65" charset="-120"/>
          <a:ea typeface="標楷體" pitchFamily="65" charset="-120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rgbClr val="CC3300"/>
        </a:buClr>
        <a:buFont typeface="Arial" charset="0"/>
        <a:buChar char="»"/>
        <a:defRPr kumimoji="1" sz="2000">
          <a:solidFill>
            <a:schemeClr val="tx1"/>
          </a:solidFill>
          <a:latin typeface="標楷體" pitchFamily="65" charset="-120"/>
          <a:ea typeface="標楷體" pitchFamily="65" charset="-120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rgbClr val="CC3300"/>
        </a:buClr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rgbClr val="CC3300"/>
        </a:buClr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rgbClr val="CC3300"/>
        </a:buClr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rgbClr val="CC3300"/>
        </a:buClr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colaus625/FM4Musi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deff/fma" TargetMode="External"/><Relationship Id="rId7" Type="http://schemas.openxmlformats.org/officeDocument/2006/relationships/hyperlink" Target="https://music-classification.github.io/tutorial/part2_basics/dataset.html" TargetMode="External"/><Relationship Id="rId2" Type="http://schemas.openxmlformats.org/officeDocument/2006/relationships/hyperlink" Target="https://freemusicarchiv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bs.freesound.org/datasets/" TargetMode="External"/><Relationship Id="rId5" Type="http://schemas.openxmlformats.org/officeDocument/2006/relationships/hyperlink" Target="https://github.com/MTG/mtg-jamendo-dataset" TargetMode="External"/><Relationship Id="rId4" Type="http://schemas.openxmlformats.org/officeDocument/2006/relationships/hyperlink" Target="https://www.jamendo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usic-classification.github.io/tutorial/part5_beyond/introduc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usic-classification.github.io/tutorial/part5_beyond/method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usic-classification.github.io/tutorial/part5_beyond/method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music-classification.github.io/tutorial/part5_beyond/self-supervised-learning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usic-classification.github.io/tutorial/part5_beyond/self-supervised-learning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music-classification.github.io/tutorial/part5_beyond/self-supervised-learning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music-classification.github.io/tutorial/part5_beyond/self-supervised-learn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music-classification.github.io/tutorial/part5_beyond/self-supervised-learning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github.com/yizhilll/MER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marble-bm.shef.ac.uk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marble-bm.shef.ac.uk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ncent-ailab/muq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-a-p/MERT-v2-30s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sizigi/PupuM2D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zzwaang.github.io/music-jepa-demo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ithub.com/a43992899/MARBLE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hyperlink" Target="https://github.com/minzwon/semi-supervised-music-tagging-transformer" TargetMode="External"/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495129" y="4318229"/>
            <a:ext cx="2978529" cy="964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Yi-</a:t>
            </a:r>
            <a:r>
              <a:rPr lang="en-US" altLang="zh-TW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Hsuan</a:t>
            </a:r>
            <a:r>
              <a:rPr lang="en-US" altLang="zh-TW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 Yang</a:t>
            </a:r>
            <a:r>
              <a:rPr lang="zh-TW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 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 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Arial Unicode MS" pitchFamily="34" charset="-120"/>
                <a:cs typeface="Calibri" pitchFamily="34" charset="0"/>
              </a:rPr>
              <a:t>Ph.D. </a:t>
            </a:r>
          </a:p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ea typeface="Arial Unicode MS" pitchFamily="34" charset="-120"/>
                <a:cs typeface="Courier New" panose="02070309020205020404" pitchFamily="49" charset="0"/>
              </a:rPr>
              <a:t>yhyangtw@ntu.edu.tw</a:t>
            </a:r>
          </a:p>
          <a:p>
            <a:endParaRPr lang="en-US" altLang="zh-TW" sz="1600" baseline="300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B3746-71C9-4C85-92CA-09F0AF2032C4}"/>
              </a:ext>
            </a:extLst>
          </p:cNvPr>
          <p:cNvSpPr/>
          <p:nvPr/>
        </p:nvSpPr>
        <p:spPr>
          <a:xfrm>
            <a:off x="1631504" y="1484784"/>
            <a:ext cx="892899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400" b="1" dirty="0" smtClean="0">
                <a:latin typeface="Calibri" pitchFamily="34" charset="0"/>
                <a:ea typeface="Arial Unicode MS" pitchFamily="34" charset="-120"/>
                <a:cs typeface="Calibri" pitchFamily="34" charset="0"/>
              </a:rPr>
              <a:t>Music Foundation Models</a:t>
            </a:r>
            <a:endParaRPr lang="zh-TW" altLang="en-US" sz="2800" dirty="0">
              <a:latin typeface="Calibri" pitchFamily="34" charset="0"/>
              <a:ea typeface="Arial Unicode MS" pitchFamily="34" charset="-120"/>
              <a:cs typeface="Calibri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1983827-F214-41EB-AA81-F7C96213B1FE}"/>
              </a:ext>
            </a:extLst>
          </p:cNvPr>
          <p:cNvSpPr txBox="1"/>
          <p:nvPr/>
        </p:nvSpPr>
        <p:spPr>
          <a:xfrm>
            <a:off x="3281539" y="908720"/>
            <a:ext cx="540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Deep Learning for Music Analysis and Generation</a:t>
            </a:r>
            <a:r>
              <a:rPr lang="en-US" altLang="zh-TW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2" t="8959" r="1656" b="16460"/>
          <a:stretch/>
        </p:blipFill>
        <p:spPr>
          <a:xfrm>
            <a:off x="3071664" y="4189695"/>
            <a:ext cx="1221433" cy="1221433"/>
          </a:xfrm>
          <a:prstGeom prst="ellipse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0128448" y="226423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40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r>
              <a:rPr lang="zh-TW" altLang="en-US" sz="240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400" dirty="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edition</a:t>
            </a:r>
            <a:endParaRPr lang="zh-TW" altLang="en-US" sz="24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Music</a:t>
            </a:r>
            <a:r>
              <a:rPr lang="zh-TW" altLang="en-US" dirty="0"/>
              <a:t> </a:t>
            </a:r>
            <a:r>
              <a:rPr lang="en-US" altLang="zh-TW" dirty="0"/>
              <a:t>Foundation </a:t>
            </a:r>
            <a:r>
              <a:rPr lang="en-US" altLang="zh-TW" dirty="0" smtClean="0"/>
              <a:t>Models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2802343" y="1103313"/>
            <a:ext cx="6587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github.com/nicolaus625/FM4Music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7161" y="6341536"/>
            <a:ext cx="6489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“Foundation Models for Music: A Survey,”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</a:t>
            </a:r>
            <a:endParaRPr lang="zh-TW" altLang="en-US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504503" y="1700808"/>
            <a:ext cx="1116011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4">
                  <a:lumMod val="65000"/>
                  <a:lumOff val="35000"/>
                </a:schemeClr>
              </a:buClr>
              <a:buFont typeface="Arial" charset="0"/>
              <a:buChar char="•"/>
              <a:defRPr kumimoji="1" sz="3200" baseline="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32" indent="-28574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標楷體" panose="03000509000000000000" pitchFamily="65" charset="-120"/>
              <a:buChar char="–"/>
              <a:defRPr kumimoji="1" sz="2800" baseline="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71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kumimoji="1" sz="2400" baseline="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buChar char="p"/>
              <a:defRPr kumimoji="1" sz="2000" baseline="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349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Arial" charset="0"/>
              <a:buChar char="»"/>
              <a:defRPr kumimoji="1" sz="2000" baseline="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537" indent="-228594" algn="l" rtl="0" fontAlgn="base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fontAlgn="base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fontAlgn="base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fontAlgn="base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600" kern="0" dirty="0"/>
              <a:t>“The term foundation model </a:t>
            </a:r>
            <a:r>
              <a:rPr lang="en-US" altLang="zh-TW" sz="2600" kern="0" dirty="0" smtClean="0"/>
              <a:t>was </a:t>
            </a:r>
            <a:r>
              <a:rPr lang="en-US" altLang="zh-TW" sz="2600" kern="0" dirty="0"/>
              <a:t>coined to describe a multipurpose machine learning model that, </a:t>
            </a:r>
            <a:r>
              <a:rPr lang="en-US" altLang="zh-TW" sz="2600" b="1" kern="0" dirty="0"/>
              <a:t>rather than being trained for a single specific task</a:t>
            </a:r>
            <a:r>
              <a:rPr lang="en-US" altLang="zh-TW" sz="2600" kern="0" dirty="0"/>
              <a:t>, serves as the </a:t>
            </a:r>
            <a:r>
              <a:rPr lang="en-US" altLang="zh-TW" sz="2600" b="1" kern="0" dirty="0"/>
              <a:t>basis</a:t>
            </a:r>
            <a:r>
              <a:rPr lang="en-US" altLang="zh-TW" sz="2600" kern="0" dirty="0"/>
              <a:t> of multiple derived models that are able to perform a wide range of tasks</a:t>
            </a:r>
            <a:r>
              <a:rPr lang="en-US" altLang="zh-TW" sz="2600" kern="0" dirty="0" smtClean="0"/>
              <a:t>”</a:t>
            </a:r>
          </a:p>
          <a:p>
            <a:r>
              <a:rPr lang="en-US" altLang="zh-TW" sz="2600" kern="0" dirty="0" smtClean="0"/>
              <a:t>“</a:t>
            </a:r>
            <a:r>
              <a:rPr lang="en-US" altLang="zh-TW" sz="2600" kern="0" dirty="0"/>
              <a:t>Following this </a:t>
            </a:r>
            <a:r>
              <a:rPr lang="en-US" altLang="zh-TW" sz="2600" b="1" kern="0" dirty="0"/>
              <a:t>pre-training</a:t>
            </a:r>
            <a:r>
              <a:rPr lang="en-US" altLang="zh-TW" sz="2600" kern="0" dirty="0"/>
              <a:t> phase, foundation models can be </a:t>
            </a:r>
            <a:r>
              <a:rPr lang="en-US" altLang="zh-TW" sz="2600" b="1" kern="0" dirty="0"/>
              <a:t>adapted</a:t>
            </a:r>
            <a:r>
              <a:rPr lang="en-US" altLang="zh-TW" sz="2600" kern="0" dirty="0"/>
              <a:t> for various </a:t>
            </a:r>
            <a:r>
              <a:rPr lang="en-US" altLang="zh-TW" sz="2600" b="1" kern="0" dirty="0"/>
              <a:t>downstream</a:t>
            </a:r>
            <a:r>
              <a:rPr lang="en-US" altLang="zh-TW" sz="2600" kern="0" dirty="0"/>
              <a:t> tasks via a relatively </a:t>
            </a:r>
            <a:r>
              <a:rPr lang="en-US" altLang="zh-TW" sz="2600" b="1" kern="0" dirty="0"/>
              <a:t>lightweight</a:t>
            </a:r>
            <a:r>
              <a:rPr lang="en-US" altLang="zh-TW" sz="2600" kern="0" dirty="0"/>
              <a:t> </a:t>
            </a:r>
            <a:r>
              <a:rPr lang="en-US" altLang="zh-TW" sz="2600" b="1" kern="0" dirty="0" err="1"/>
              <a:t>finetuning</a:t>
            </a:r>
            <a:r>
              <a:rPr lang="en-US" altLang="zh-TW" sz="2600" kern="0" dirty="0"/>
              <a:t> or </a:t>
            </a:r>
            <a:r>
              <a:rPr lang="en-US" altLang="zh-TW" sz="2600" b="1" kern="0" dirty="0"/>
              <a:t>in-context learning </a:t>
            </a:r>
            <a:r>
              <a:rPr lang="en-US" altLang="zh-TW" sz="2600" kern="0" dirty="0"/>
              <a:t>stage, for example, using a labelled dataset that is orders of magnitude smaller than the pre-training data</a:t>
            </a:r>
            <a:r>
              <a:rPr lang="en-US" altLang="zh-TW" sz="2600" kern="0" dirty="0" smtClean="0"/>
              <a:t>.”</a:t>
            </a:r>
          </a:p>
          <a:p>
            <a:r>
              <a:rPr lang="en-US" altLang="zh-TW" sz="2600" kern="0" dirty="0" smtClean="0"/>
              <a:t>“FMs </a:t>
            </a:r>
            <a:r>
              <a:rPr lang="en-US" altLang="zh-TW" sz="2600" kern="0" dirty="0"/>
              <a:t>for music not only address data scarcity and reduce annotation costs, but also enhance </a:t>
            </a:r>
            <a:r>
              <a:rPr lang="en-US" altLang="zh-TW" sz="2600" b="1" kern="0" dirty="0" err="1"/>
              <a:t>generalisation</a:t>
            </a:r>
            <a:r>
              <a:rPr lang="en-US" altLang="zh-TW" sz="2600" kern="0" dirty="0"/>
              <a:t> in music information retrieval and creation</a:t>
            </a:r>
            <a:r>
              <a:rPr lang="en-US" altLang="zh-TW" sz="2600" kern="0" dirty="0" smtClean="0"/>
              <a:t>.”</a:t>
            </a:r>
            <a:endParaRPr lang="en-US" altLang="zh-TW" sz="2600" kern="0" dirty="0"/>
          </a:p>
        </p:txBody>
      </p:sp>
    </p:spTree>
    <p:extLst>
      <p:ext uri="{BB962C8B-B14F-4D97-AF65-F5344CB8AC3E}">
        <p14:creationId xmlns:p14="http://schemas.microsoft.com/office/powerpoint/2010/main" val="420020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336" y="188913"/>
            <a:ext cx="11928731" cy="914400"/>
          </a:xfrm>
        </p:spPr>
        <p:txBody>
          <a:bodyPr/>
          <a:lstStyle/>
          <a:p>
            <a:r>
              <a:rPr lang="en-US" altLang="zh-TW" dirty="0" smtClean="0"/>
              <a:t>Copyright-free Music Datasets; Good for Pre-Training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844824"/>
            <a:ext cx="11137900" cy="4680520"/>
          </a:xfrm>
        </p:spPr>
        <p:txBody>
          <a:bodyPr/>
          <a:lstStyle/>
          <a:p>
            <a:r>
              <a:rPr lang="en-US" altLang="zh-TW" sz="2800" dirty="0"/>
              <a:t>Free Music </a:t>
            </a:r>
            <a:r>
              <a:rPr lang="en-US" altLang="zh-TW" sz="2800" dirty="0" smtClean="0"/>
              <a:t>Archive (FMA)</a:t>
            </a:r>
          </a:p>
          <a:p>
            <a:pPr lvl="1"/>
            <a:r>
              <a:rPr lang="en-US" altLang="zh-TW" sz="2400" dirty="0" smtClean="0">
                <a:hlinkClick r:id="rId2"/>
              </a:rPr>
              <a:t>https</a:t>
            </a:r>
            <a:r>
              <a:rPr lang="en-US" altLang="zh-TW" sz="2400" dirty="0">
                <a:hlinkClick r:id="rId2"/>
              </a:rPr>
              <a:t>://freemusicarchive.org</a:t>
            </a:r>
            <a:r>
              <a:rPr lang="en-US" altLang="zh-TW" sz="2400" dirty="0" smtClean="0">
                <a:hlinkClick r:id="rId2"/>
              </a:rPr>
              <a:t>/</a:t>
            </a:r>
            <a:endParaRPr lang="en-US" altLang="zh-TW" sz="2400" dirty="0" smtClean="0"/>
          </a:p>
          <a:p>
            <a:pPr lvl="1"/>
            <a:r>
              <a:rPr lang="en-US" altLang="zh-TW" sz="2400" dirty="0">
                <a:hlinkClick r:id="rId3"/>
              </a:rPr>
              <a:t>https://</a:t>
            </a:r>
            <a:r>
              <a:rPr lang="en-US" altLang="zh-TW" sz="2400" dirty="0" smtClean="0">
                <a:hlinkClick r:id="rId3"/>
              </a:rPr>
              <a:t>github.com/mdeff/fma</a:t>
            </a:r>
            <a:r>
              <a:rPr lang="en-US" altLang="zh-TW" sz="2400" dirty="0" smtClean="0"/>
              <a:t> </a:t>
            </a:r>
          </a:p>
          <a:p>
            <a:pPr lvl="1"/>
            <a:endParaRPr lang="en-US" altLang="zh-TW" sz="1100" dirty="0"/>
          </a:p>
          <a:p>
            <a:r>
              <a:rPr lang="en-US" altLang="zh-TW" sz="2800" dirty="0" err="1"/>
              <a:t>Jamendo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dataset</a:t>
            </a:r>
          </a:p>
          <a:p>
            <a:pPr lvl="1"/>
            <a:r>
              <a:rPr lang="en-US" altLang="zh-TW" sz="2400" dirty="0">
                <a:hlinkClick r:id="rId4"/>
              </a:rPr>
              <a:t>https://www.jamendo.com</a:t>
            </a:r>
            <a:r>
              <a:rPr lang="en-US" altLang="zh-TW" sz="2400" dirty="0" smtClean="0">
                <a:hlinkClick r:id="rId4"/>
              </a:rPr>
              <a:t>/</a:t>
            </a:r>
            <a:r>
              <a:rPr lang="en-US" altLang="zh-TW" sz="2400" dirty="0" smtClean="0"/>
              <a:t> </a:t>
            </a:r>
          </a:p>
          <a:p>
            <a:pPr lvl="1"/>
            <a:r>
              <a:rPr lang="en-US" altLang="zh-TW" sz="2400" dirty="0">
                <a:hlinkClick r:id="rId5"/>
              </a:rPr>
              <a:t>https://</a:t>
            </a:r>
            <a:r>
              <a:rPr lang="en-US" altLang="zh-TW" sz="2400" dirty="0" smtClean="0">
                <a:hlinkClick r:id="rId5"/>
              </a:rPr>
              <a:t>github.com/MTG/mtg-jamendo-dataset</a:t>
            </a:r>
            <a:r>
              <a:rPr lang="en-US" altLang="zh-TW" sz="2400" dirty="0" smtClean="0"/>
              <a:t> </a:t>
            </a:r>
          </a:p>
          <a:p>
            <a:endParaRPr lang="en-US" altLang="zh-TW" sz="1100" dirty="0" smtClean="0"/>
          </a:p>
          <a:p>
            <a:r>
              <a:rPr lang="en-US" altLang="zh-TW" sz="2800" dirty="0" err="1" smtClean="0"/>
              <a:t>FreeSound</a:t>
            </a:r>
            <a:endParaRPr lang="en-US" altLang="zh-TW" sz="2800" dirty="0" smtClean="0"/>
          </a:p>
          <a:p>
            <a:pPr lvl="1"/>
            <a:r>
              <a:rPr lang="en-US" altLang="zh-TW" sz="2400" dirty="0">
                <a:hlinkClick r:id="rId6"/>
              </a:rPr>
              <a:t>https://freesound.org/</a:t>
            </a:r>
            <a:endParaRPr lang="en-US" altLang="zh-TW" sz="2400" dirty="0" smtClean="0">
              <a:hlinkClick r:id="rId6"/>
            </a:endParaRPr>
          </a:p>
          <a:p>
            <a:pPr lvl="1"/>
            <a:r>
              <a:rPr lang="en-US" altLang="zh-TW" sz="2400" dirty="0" smtClean="0">
                <a:hlinkClick r:id="rId6"/>
              </a:rPr>
              <a:t>https</a:t>
            </a:r>
            <a:r>
              <a:rPr lang="en-US" altLang="zh-TW" sz="2400" dirty="0">
                <a:hlinkClick r:id="rId6"/>
              </a:rPr>
              <a:t>://labs.freesound.org/datasets</a:t>
            </a:r>
            <a:r>
              <a:rPr lang="en-US" altLang="zh-TW" sz="2400" dirty="0" smtClean="0">
                <a:hlinkClick r:id="rId6"/>
              </a:rPr>
              <a:t>/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699427" y="1103313"/>
            <a:ext cx="10793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music-classification.github.io/tutorial/part2_basics/dataset.html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29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Pre-Training Strategies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“Foundation models are pre-trained in a </a:t>
            </a:r>
            <a:r>
              <a:rPr lang="en-US" altLang="zh-TW" sz="2800" b="1" dirty="0">
                <a:solidFill>
                  <a:srgbClr val="0066FF"/>
                </a:solidFill>
              </a:rPr>
              <a:t>self-supervised</a:t>
            </a:r>
            <a:r>
              <a:rPr lang="en-US" altLang="zh-TW" sz="2800" dirty="0"/>
              <a:t> fashion on </a:t>
            </a:r>
            <a:r>
              <a:rPr lang="en-US" altLang="zh-TW" sz="2800" b="1" dirty="0"/>
              <a:t>large-scale</a:t>
            </a:r>
            <a:r>
              <a:rPr lang="en-US" altLang="zh-TW" sz="2800" dirty="0"/>
              <a:t> datasets, </a:t>
            </a:r>
            <a:r>
              <a:rPr lang="en-US" altLang="zh-TW" sz="2800" b="1" dirty="0"/>
              <a:t>avoiding or </a:t>
            </a:r>
            <a:r>
              <a:rPr lang="en-US" altLang="zh-TW" sz="2800" b="1" dirty="0" err="1"/>
              <a:t>minimising</a:t>
            </a:r>
            <a:r>
              <a:rPr lang="en-US" altLang="zh-TW" sz="2800" b="1" dirty="0"/>
              <a:t> the need for labelled </a:t>
            </a:r>
            <a:r>
              <a:rPr lang="en-US" altLang="zh-TW" sz="2800" b="1" dirty="0" smtClean="0"/>
              <a:t>data</a:t>
            </a:r>
            <a:r>
              <a:rPr lang="en-US" altLang="zh-TW" sz="2800" dirty="0" smtClean="0"/>
              <a:t>”</a:t>
            </a:r>
          </a:p>
          <a:p>
            <a:r>
              <a:rPr lang="en-US" altLang="zh-TW" sz="2800" dirty="0" smtClean="0"/>
              <a:t>Mainstream strategies</a:t>
            </a:r>
          </a:p>
          <a:p>
            <a:pPr lvl="1"/>
            <a:r>
              <a:rPr lang="en-US" altLang="zh-TW" sz="2400" dirty="0"/>
              <a:t>Generative pre-training</a:t>
            </a:r>
            <a:r>
              <a:rPr lang="zh-TW" altLang="en-US" sz="2400" dirty="0"/>
              <a:t> </a:t>
            </a:r>
            <a:r>
              <a:rPr lang="en-US" altLang="zh-TW" sz="2400" dirty="0"/>
              <a:t>(e.g., AE or VQVAE)</a:t>
            </a:r>
          </a:p>
          <a:p>
            <a:pPr lvl="1"/>
            <a:r>
              <a:rPr lang="en-US" altLang="zh-TW" sz="2400" dirty="0" smtClean="0"/>
              <a:t>Contrastive </a:t>
            </a:r>
            <a:r>
              <a:rPr lang="en-US" altLang="zh-TW" sz="2400" dirty="0" smtClean="0"/>
              <a:t>learning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e.g., </a:t>
            </a:r>
            <a:r>
              <a:rPr lang="en-US" altLang="zh-TW" sz="2400" dirty="0" err="1"/>
              <a:t>SimCLR</a:t>
            </a:r>
            <a:r>
              <a:rPr lang="en-US" altLang="zh-TW" sz="2400" dirty="0"/>
              <a:t>)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Masked </a:t>
            </a:r>
            <a:r>
              <a:rPr lang="en-US" altLang="zh-TW" sz="2400" dirty="0" smtClean="0"/>
              <a:t>modelling</a:t>
            </a:r>
            <a:r>
              <a:rPr lang="en-US" altLang="zh-TW" sz="2400" b="1" dirty="0"/>
              <a:t> </a:t>
            </a:r>
            <a:r>
              <a:rPr lang="en-US" altLang="zh-TW" sz="2400" dirty="0"/>
              <a:t>(e.g., </a:t>
            </a:r>
            <a:r>
              <a:rPr lang="en-US" altLang="zh-TW" sz="2400" dirty="0" smtClean="0"/>
              <a:t>BERT or MAE)</a:t>
            </a:r>
          </a:p>
          <a:p>
            <a:pPr lvl="1"/>
            <a:r>
              <a:rPr lang="en-US" altLang="zh-TW" sz="2400" dirty="0"/>
              <a:t>Predictive joint-embedding (e.g., JEPA)</a:t>
            </a:r>
            <a:endParaRPr lang="zh-TW" altLang="en-US" sz="2400" dirty="0"/>
          </a:p>
          <a:p>
            <a:pPr lvl="1"/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6404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Self-Supervised Learning (SSL)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72816"/>
            <a:ext cx="5208909" cy="4320480"/>
          </a:xfrm>
        </p:spPr>
        <p:txBody>
          <a:bodyPr/>
          <a:lstStyle/>
          <a:p>
            <a:r>
              <a:rPr lang="en-US" altLang="zh-TW" sz="2800" b="1" dirty="0" smtClean="0"/>
              <a:t>Do not</a:t>
            </a:r>
            <a:r>
              <a:rPr lang="en-US" altLang="zh-TW" sz="2800" dirty="0" smtClean="0"/>
              <a:t> </a:t>
            </a:r>
            <a:r>
              <a:rPr lang="en-US" altLang="zh-TW" sz="2800" b="1" dirty="0" smtClean="0"/>
              <a:t>need</a:t>
            </a:r>
            <a:r>
              <a:rPr lang="en-US" altLang="zh-TW" sz="2800" dirty="0" smtClean="0"/>
              <a:t> human labels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(i.e., unlabeled)</a:t>
            </a:r>
          </a:p>
          <a:p>
            <a:r>
              <a:rPr lang="en-US" altLang="zh-TW" sz="2800" dirty="0" smtClean="0"/>
              <a:t>Can learn from </a:t>
            </a:r>
            <a:r>
              <a:rPr lang="en-US" altLang="zh-TW" sz="2800" b="1" dirty="0" smtClean="0"/>
              <a:t>large</a:t>
            </a:r>
            <a:r>
              <a:rPr lang="en-US" altLang="zh-TW" sz="2800" dirty="0" smtClean="0"/>
              <a:t> data</a:t>
            </a:r>
          </a:p>
          <a:p>
            <a:r>
              <a:rPr lang="en-US" altLang="zh-TW" sz="2800" dirty="0" smtClean="0"/>
              <a:t>Can do “</a:t>
            </a:r>
            <a:r>
              <a:rPr lang="en-US" altLang="zh-TW" sz="2800" b="1" dirty="0" smtClean="0"/>
              <a:t>transfer learning</a:t>
            </a:r>
            <a:r>
              <a:rPr lang="en-US" altLang="zh-TW" sz="2800" dirty="0" smtClean="0"/>
              <a:t>”</a:t>
            </a:r>
          </a:p>
          <a:p>
            <a:pPr lvl="1"/>
            <a:r>
              <a:rPr lang="en-US" altLang="zh-TW" sz="2400" b="1" i="1" dirty="0" smtClean="0"/>
              <a:t>Pre-train</a:t>
            </a:r>
            <a:r>
              <a:rPr lang="en-US" altLang="zh-TW" sz="2400" dirty="0" smtClean="0"/>
              <a:t> the model with SSL</a:t>
            </a:r>
          </a:p>
          <a:p>
            <a:pPr lvl="1"/>
            <a:r>
              <a:rPr lang="en-US" altLang="zh-TW" sz="2400" b="1" i="1" dirty="0" smtClean="0"/>
              <a:t>Fine-tune</a:t>
            </a:r>
            <a:r>
              <a:rPr lang="en-US" altLang="zh-TW" sz="2400" dirty="0" smtClean="0"/>
              <a:t> with </a:t>
            </a:r>
            <a:r>
              <a:rPr lang="en-US" altLang="zh-TW" sz="2400" dirty="0" smtClean="0">
                <a:solidFill>
                  <a:srgbClr val="0066FF"/>
                </a:solidFill>
              </a:rPr>
              <a:t>a few more layers </a:t>
            </a:r>
            <a:r>
              <a:rPr lang="en-US" altLang="zh-TW" sz="2400" dirty="0" smtClean="0"/>
              <a:t>(usually linear layers) on  downstream tasks using supervised learning</a:t>
            </a:r>
          </a:p>
          <a:p>
            <a:pPr lvl="1"/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1234" y="1103313"/>
            <a:ext cx="11649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music-classification.github.io/tutorial/part5_beyond/introduction.html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39336" y="1725468"/>
            <a:ext cx="5659758" cy="297181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701" y="4906891"/>
            <a:ext cx="6098532" cy="114069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83816" y="6257195"/>
            <a:ext cx="11764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al., “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survey on self-supervised learning: Algorithms, applications, and future trends,”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TPAMI 2024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54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Generative </a:t>
            </a:r>
            <a:r>
              <a:rPr lang="en-US" altLang="zh-TW" dirty="0" smtClean="0"/>
              <a:t>Pre-training: </a:t>
            </a:r>
            <a:r>
              <a:rPr lang="en-US" altLang="zh-TW" dirty="0" smtClean="0"/>
              <a:t>Contrastive </a:t>
            </a:r>
            <a:r>
              <a:rPr lang="en-US" altLang="zh-TW" dirty="0"/>
              <a:t>Predictive Coding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528933" y="1103313"/>
            <a:ext cx="111341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music-classification.github.io/tutorial/part5_beyond/methods.html</a:t>
            </a:r>
            <a:r>
              <a:rPr lang="zh-TW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3816" y="6257195"/>
            <a:ext cx="11764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van den Oord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al., “Representation learning with contrastive predictive coding,”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2018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527051" y="1751095"/>
            <a:ext cx="11137900" cy="4342200"/>
          </a:xfrm>
        </p:spPr>
        <p:txBody>
          <a:bodyPr/>
          <a:lstStyle/>
          <a:p>
            <a:r>
              <a:rPr lang="en-US" altLang="zh-TW" sz="2800" dirty="0" smtClean="0"/>
              <a:t>Learn by </a:t>
            </a:r>
            <a:r>
              <a:rPr lang="en-US" altLang="zh-TW" sz="2800" dirty="0"/>
              <a:t>predicting the future </a:t>
            </a:r>
            <a:r>
              <a:rPr lang="en-US" altLang="zh-TW" sz="2800" dirty="0" smtClean="0"/>
              <a:t>in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 learned </a:t>
            </a:r>
            <a:r>
              <a:rPr lang="en-US" altLang="zh-TW" sz="2800" dirty="0"/>
              <a:t>latent space</a:t>
            </a:r>
            <a:endParaRPr lang="zh-TW" altLang="en-US" sz="2800" dirty="0"/>
          </a:p>
        </p:txBody>
      </p:sp>
      <p:pic>
        <p:nvPicPr>
          <p:cNvPr id="9" name="內容版面配置區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7568" y="2283835"/>
            <a:ext cx="8856984" cy="3641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5161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Contrastive </a:t>
            </a:r>
            <a:r>
              <a:rPr lang="en-US" altLang="zh-TW" dirty="0" smtClean="0"/>
              <a:t>Learning: </a:t>
            </a:r>
            <a:r>
              <a:rPr lang="en-US" altLang="zh-TW" dirty="0" err="1" smtClean="0"/>
              <a:t>SimCLR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528933" y="1103313"/>
            <a:ext cx="111341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music-classification.github.io/tutorial/part5_beyond/methods.html</a:t>
            </a:r>
            <a:r>
              <a:rPr lang="zh-TW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3816" y="6257195"/>
            <a:ext cx="11764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 et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al., “A simple framework for contrastive learning of visual representations,”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ICML 2020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527051" y="1826529"/>
            <a:ext cx="6073005" cy="4266767"/>
          </a:xfrm>
        </p:spPr>
        <p:txBody>
          <a:bodyPr/>
          <a:lstStyle/>
          <a:p>
            <a:r>
              <a:rPr lang="en-US" altLang="zh-TW" sz="2800" dirty="0" smtClean="0"/>
              <a:t>“Draw closer” positive data pairs while “push away” negative data pairs</a:t>
            </a:r>
          </a:p>
          <a:p>
            <a:pPr lvl="1"/>
            <a:r>
              <a:rPr lang="en-US" altLang="zh-TW" sz="2400" b="1" dirty="0" smtClean="0"/>
              <a:t>positive pairs</a:t>
            </a:r>
            <a:r>
              <a:rPr lang="en-US" altLang="zh-TW" sz="2400" dirty="0" smtClean="0"/>
              <a:t>: different “augmented views” of the same instance (done by </a:t>
            </a:r>
            <a:r>
              <a:rPr lang="en-US" altLang="zh-TW" sz="2400" i="1" dirty="0" smtClean="0"/>
              <a:t>data augmentation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400" b="1" dirty="0" smtClean="0"/>
              <a:t>negative pairs</a:t>
            </a:r>
            <a:r>
              <a:rPr lang="en-US" altLang="zh-TW" sz="2400" dirty="0" smtClean="0"/>
              <a:t>: different instances </a:t>
            </a:r>
          </a:p>
          <a:p>
            <a:r>
              <a:rPr lang="en-US" altLang="zh-TW" sz="2800" b="1" dirty="0" smtClean="0"/>
              <a:t>Metric learning</a:t>
            </a:r>
          </a:p>
          <a:p>
            <a:pPr lvl="1"/>
            <a:r>
              <a:rPr lang="en-US" altLang="zh-TW" sz="2400" dirty="0" smtClean="0"/>
              <a:t>shared </a:t>
            </a:r>
            <a:r>
              <a:rPr lang="en-US" altLang="zh-TW" sz="2400" dirty="0"/>
              <a:t>encoder (CNN+MLP</a:t>
            </a:r>
            <a:r>
              <a:rPr lang="en-US" altLang="zh-TW" sz="2400" dirty="0" smtClean="0"/>
              <a:t>), output an </a:t>
            </a:r>
            <a:r>
              <a:rPr lang="en-US" altLang="zh-TW" sz="2400" i="1" dirty="0" smtClean="0"/>
              <a:t>embedding vector</a:t>
            </a:r>
          </a:p>
          <a:p>
            <a:pPr lvl="1"/>
            <a:r>
              <a:rPr lang="en-US" altLang="zh-TW" sz="2400" dirty="0" smtClean="0"/>
              <a:t>learn </a:t>
            </a:r>
            <a:r>
              <a:rPr lang="en-US" altLang="zh-TW" sz="2400" dirty="0"/>
              <a:t>a similarity </a:t>
            </a:r>
            <a:r>
              <a:rPr lang="en-US" altLang="zh-TW" sz="2400" dirty="0" smtClean="0"/>
              <a:t>metric discriminatively</a:t>
            </a:r>
            <a:endParaRPr lang="zh-TW" altLang="en-US" sz="2800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1721548"/>
            <a:ext cx="4536504" cy="433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4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SimCLR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altLang="zh-TW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2"/>
              <p:cNvSpPr txBox="1">
                <a:spLocks/>
              </p:cNvSpPr>
              <p:nvPr/>
            </p:nvSpPr>
            <p:spPr bwMode="auto">
              <a:xfrm>
                <a:off x="3873210" y="3851267"/>
                <a:ext cx="8559494" cy="25304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4">
                      <a:lumMod val="65000"/>
                      <a:lumOff val="35000"/>
                    </a:schemeClr>
                  </a:buClr>
                  <a:buFont typeface="Arial" charset="0"/>
                  <a:buChar char="•"/>
                  <a:defRPr kumimoji="1" sz="32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32" indent="-28574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99"/>
                  </a:buClr>
                  <a:buFont typeface="標楷體" panose="03000509000000000000" pitchFamily="65" charset="-120"/>
                  <a:buChar char="–"/>
                  <a:defRPr kumimoji="1" sz="28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71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Calibri" panose="020F0502020204030204" pitchFamily="34" charset="0"/>
                  <a:buChar char="◦"/>
                  <a:defRPr kumimoji="1" sz="24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3pPr>
                <a:lvl4pPr marL="1600160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itchFamily="2" charset="2"/>
                  <a:buChar char="p"/>
                  <a:defRPr kumimoji="1" sz="20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4pPr>
                <a:lvl5pPr marL="2057349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5pPr>
                <a:lvl6pPr marL="2514537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TW" sz="2800" kern="0" dirty="0" smtClean="0"/>
                  <a:t>Training details</a:t>
                </a:r>
              </a:p>
              <a:p>
                <a:pPr lvl="1"/>
                <a:r>
                  <a:rPr lang="en-US" altLang="zh-TW" sz="2400" kern="0" dirty="0" smtClean="0"/>
                  <a:t>given a mini-batch of </a:t>
                </a:r>
                <a:r>
                  <a:rPr lang="en-US" altLang="zh-TW" sz="2400" i="1" kern="0" dirty="0" smtClean="0"/>
                  <a:t>N</a:t>
                </a:r>
                <a:r>
                  <a:rPr lang="en-US" altLang="zh-TW" sz="2400" kern="0" dirty="0" smtClean="0"/>
                  <a:t> samples, we will have </a:t>
                </a:r>
                <a:r>
                  <a:rPr lang="en-US" altLang="zh-TW" sz="2400" i="1" kern="0" dirty="0" smtClean="0"/>
                  <a:t>2N</a:t>
                </a:r>
                <a:r>
                  <a:rPr lang="en-US" altLang="zh-TW" sz="2400" kern="0" dirty="0" smtClean="0"/>
                  <a:t> samples after data augmentation</a:t>
                </a:r>
              </a:p>
              <a:p>
                <a:pPr lvl="1"/>
                <a:r>
                  <a:rPr lang="en-US" altLang="zh-TW" sz="2400" kern="0" dirty="0" smtClean="0"/>
                  <a:t>given a positive pair, view the other </a:t>
                </a:r>
                <a:r>
                  <a:rPr lang="en-US" altLang="zh-TW" sz="2400" i="1" kern="0" dirty="0" smtClean="0"/>
                  <a:t>2N</a:t>
                </a:r>
                <a14:m>
                  <m:oMath xmlns:m="http://schemas.openxmlformats.org/officeDocument/2006/math">
                    <m:r>
                      <a:rPr lang="en-US" altLang="zh-TW" sz="2400" i="1" kern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TW" sz="2400" i="1" kern="0" dirty="0" smtClean="0"/>
                  <a:t>1 </a:t>
                </a:r>
                <a:r>
                  <a:rPr lang="en-US" altLang="zh-TW" sz="2400" kern="0" dirty="0" smtClean="0"/>
                  <a:t>pairs as negative</a:t>
                </a:r>
              </a:p>
              <a:p>
                <a:pPr lvl="1"/>
                <a:r>
                  <a:rPr lang="en-US" altLang="zh-TW" sz="2400" kern="0" dirty="0" err="1" smtClean="0"/>
                  <a:t>infoNCE</a:t>
                </a:r>
                <a:r>
                  <a:rPr lang="en-US" altLang="zh-TW" sz="2400" kern="0" dirty="0" smtClean="0"/>
                  <a:t> loss</a:t>
                </a:r>
              </a:p>
              <a:p>
                <a:pPr lvl="1"/>
                <a:endParaRPr lang="en-US" altLang="zh-TW" sz="1000" kern="0" dirty="0"/>
              </a:p>
            </p:txBody>
          </p:sp>
        </mc:Choice>
        <mc:Fallback xmlns="">
          <p:sp>
            <p:nvSpPr>
              <p:cNvPr id="9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3210" y="3851267"/>
                <a:ext cx="8559494" cy="2530489"/>
              </a:xfrm>
              <a:prstGeom prst="rect">
                <a:avLst/>
              </a:prstGeom>
              <a:blipFill>
                <a:blip r:embed="rId2"/>
                <a:stretch>
                  <a:fillRect l="-1282" t="-241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4" y="1341079"/>
            <a:ext cx="3192352" cy="529047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43872" y="1127341"/>
            <a:ext cx="5846540" cy="270378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16" y="5688115"/>
            <a:ext cx="5471915" cy="94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5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Exemplar </a:t>
            </a:r>
            <a:r>
              <a:rPr lang="en-US" altLang="zh-TW" dirty="0" smtClean="0"/>
              <a:t>Model: </a:t>
            </a:r>
            <a:r>
              <a:rPr lang="en-US" altLang="zh-TW" dirty="0"/>
              <a:t>CLMR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9</a:t>
            </a:fld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374499" y="1103313"/>
            <a:ext cx="114430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4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music-classification.github.io/tutorial/part5_beyond/self-supervised-learning.html</a:t>
            </a:r>
            <a:r>
              <a:rPr lang="en-US" altLang="zh-TW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7161" y="6341536"/>
            <a:ext cx="9607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Spijkervet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Burgoyne, “Contrastive Learning of Musical Representations,”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ISMIR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512" y="1612115"/>
            <a:ext cx="7480977" cy="468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3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43428"/>
            <a:ext cx="11521016" cy="4925932"/>
          </a:xfrm>
        </p:spPr>
        <p:txBody>
          <a:bodyPr/>
          <a:lstStyle/>
          <a:p>
            <a:r>
              <a:rPr lang="en-US" altLang="zh-TW" sz="2800" dirty="0" smtClean="0"/>
              <a:t>Use </a:t>
            </a:r>
            <a:r>
              <a:rPr lang="en-US" altLang="zh-TW" sz="2800" b="1" dirty="0" smtClean="0"/>
              <a:t>sample-level</a:t>
            </a:r>
            <a:r>
              <a:rPr lang="en-US" altLang="zh-TW" sz="2800" dirty="0" smtClean="0"/>
              <a:t> CNN as the </a:t>
            </a:r>
            <a:br>
              <a:rPr lang="en-US" altLang="zh-TW" sz="2800" dirty="0" smtClean="0"/>
            </a:br>
            <a:r>
              <a:rPr lang="en-US" altLang="zh-TW" sz="2800" dirty="0" smtClean="0"/>
              <a:t>feature extractor </a:t>
            </a:r>
          </a:p>
          <a:p>
            <a:pPr lvl="1"/>
            <a:r>
              <a:rPr lang="en-US" altLang="zh-TW" sz="2400" dirty="0" smtClean="0"/>
              <a:t>59,049 (3^10) samples at 22kHz (~2.68 seconds)</a:t>
            </a:r>
          </a:p>
          <a:p>
            <a:r>
              <a:rPr lang="en-US" altLang="zh-TW" sz="2800" dirty="0" smtClean="0"/>
              <a:t>Use </a:t>
            </a:r>
            <a:r>
              <a:rPr lang="en-US" altLang="zh-TW" sz="2800" dirty="0" err="1" smtClean="0"/>
              <a:t>SimCLR</a:t>
            </a:r>
            <a:r>
              <a:rPr lang="en-US" altLang="zh-TW" sz="2800" dirty="0" smtClean="0"/>
              <a:t> for learning</a:t>
            </a:r>
          </a:p>
          <a:p>
            <a:r>
              <a:rPr lang="en-US" altLang="zh-TW" sz="2800" dirty="0" smtClean="0"/>
              <a:t>Freeze the pre-trained feature extractor, </a:t>
            </a:r>
            <a:r>
              <a:rPr lang="en-US" altLang="zh-TW" sz="2800" b="1" dirty="0" smtClean="0"/>
              <a:t>fine-tune</a:t>
            </a:r>
            <a:r>
              <a:rPr lang="en-US" altLang="zh-TW" sz="2800" dirty="0" smtClean="0"/>
              <a:t> </a:t>
            </a:r>
            <a:r>
              <a:rPr lang="en-US" altLang="zh-TW" sz="2800" b="1" i="1" dirty="0" smtClean="0"/>
              <a:t>linear classifier</a:t>
            </a:r>
          </a:p>
          <a:p>
            <a:pPr lvl="1"/>
            <a:r>
              <a:rPr lang="en-US" altLang="zh-TW" sz="2400" dirty="0" smtClean="0"/>
              <a:t>supervised </a:t>
            </a:r>
            <a:r>
              <a:rPr lang="en-US" altLang="zh-TW" sz="2400" dirty="0" err="1" smtClean="0"/>
              <a:t>SampleCNN</a:t>
            </a:r>
            <a:r>
              <a:rPr lang="en-US" altLang="zh-TW" sz="2400" dirty="0" smtClean="0"/>
              <a:t>: 49.6%</a:t>
            </a:r>
          </a:p>
          <a:p>
            <a:pPr lvl="1"/>
            <a:r>
              <a:rPr lang="en-US" altLang="zh-TW" sz="2400" dirty="0" smtClean="0"/>
              <a:t>SSL CLMR + </a:t>
            </a:r>
            <a:r>
              <a:rPr lang="en-US" altLang="zh-TW" sz="2400" dirty="0" err="1" smtClean="0"/>
              <a:t>SampleCNN</a:t>
            </a:r>
            <a:r>
              <a:rPr lang="en-US" altLang="zh-TW" sz="2400" dirty="0" smtClean="0"/>
              <a:t>: 55.2%</a:t>
            </a:r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340034" y="1103313"/>
            <a:ext cx="1151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https://music-classification.github.io/tutorial/part5_beyond/self-supervised-learning.html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9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Code:</a:t>
            </a:r>
            <a:r>
              <a:rPr lang="zh-TW" altLang="en-US" dirty="0" smtClean="0"/>
              <a:t> </a:t>
            </a:r>
            <a:r>
              <a:rPr lang="en-US" altLang="zh-TW" dirty="0" smtClean="0"/>
              <a:t>Creating Positive Pairs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0034" y="1103313"/>
            <a:ext cx="1151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https://music-classification.github.io/tutorial/part5_beyond/self-supervised-learning.html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</p:spPr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  <p:sp>
        <p:nvSpPr>
          <p:cNvPr id="14" name="矩形 13"/>
          <p:cNvSpPr/>
          <p:nvPr/>
        </p:nvSpPr>
        <p:spPr bwMode="auto">
          <a:xfrm>
            <a:off x="13440816" y="1844824"/>
            <a:ext cx="2163954" cy="8640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30" y="1651682"/>
            <a:ext cx="3648584" cy="258163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34" y="4604431"/>
            <a:ext cx="5068007" cy="199100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573" y="1669460"/>
            <a:ext cx="7888959" cy="3558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 bwMode="auto">
          <a:xfrm>
            <a:off x="14522793" y="6021288"/>
            <a:ext cx="914400" cy="914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353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5" y="188913"/>
            <a:ext cx="7728856" cy="914400"/>
          </a:xfrm>
        </p:spPr>
        <p:txBody>
          <a:bodyPr/>
          <a:lstStyle/>
          <a:p>
            <a:r>
              <a:rPr lang="en-US" altLang="zh-TW" dirty="0" smtClean="0"/>
              <a:t>Sample Code:</a:t>
            </a:r>
            <a:r>
              <a:rPr lang="zh-TW" altLang="en-US" dirty="0" smtClean="0"/>
              <a:t> </a:t>
            </a:r>
            <a:r>
              <a:rPr lang="en-US" altLang="zh-TW" dirty="0" err="1"/>
              <a:t>SampleCNN</a:t>
            </a:r>
            <a:r>
              <a:rPr lang="en-US" altLang="zh-TW" dirty="0"/>
              <a:t> Encoder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800" dirty="0" smtClean="0"/>
                  <a:t>59,049 raw audio samples </a:t>
                </a:r>
                <a:r>
                  <a:rPr lang="en-US" altLang="zh-TW" sz="2800" dirty="0"/>
                  <a:t>(</a:t>
                </a:r>
                <a:r>
                  <a:rPr lang="en-US" altLang="zh-TW" sz="2800" dirty="0" smtClean="0"/>
                  <a:t>2.678 sec) </a:t>
                </a:r>
                <a:r>
                  <a:rPr lang="en-US" altLang="zh-TW" sz="2800" dirty="0"/>
                  <a:t>as </a:t>
                </a:r>
                <a:r>
                  <a:rPr lang="en-US" altLang="zh-TW" sz="2800" dirty="0" smtClean="0"/>
                  <a:t>input</a:t>
                </a:r>
              </a:p>
              <a:p>
                <a:r>
                  <a:rPr lang="en-US" altLang="zh-TW" sz="2800" dirty="0" smtClean="0"/>
                  <a:t>Small filter size (</a:t>
                </a:r>
                <a:r>
                  <a:rPr lang="en-US" altLang="zh-TW" sz="2800" dirty="0" err="1" smtClean="0"/>
                  <a:t>kerel</a:t>
                </a:r>
                <a:r>
                  <a:rPr lang="en-US" altLang="zh-TW" sz="2800" dirty="0" smtClean="0"/>
                  <a:t> size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TW" sz="2800" dirty="0" smtClean="0"/>
                  <a:t>) and strides</a:t>
                </a:r>
              </a:p>
              <a:p>
                <a:r>
                  <a:rPr lang="en-US" altLang="zh-TW" sz="2800" dirty="0" smtClean="0"/>
                  <a:t>1D </a:t>
                </a:r>
                <a:r>
                  <a:rPr lang="en-US" altLang="zh-TW" sz="2800" dirty="0" err="1" smtClean="0"/>
                  <a:t>conv</a:t>
                </a:r>
                <a:r>
                  <a:rPr lang="en-US" altLang="zh-TW" sz="2800" dirty="0" smtClean="0"/>
                  <a:t> + </a:t>
                </a:r>
                <a:r>
                  <a:rPr lang="en-US" altLang="zh-TW" sz="2800" dirty="0"/>
                  <a:t>max-pooling 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with factor-3 reductions</a:t>
                </a:r>
                <a:r>
                  <a:rPr lang="en-US" altLang="zh-TW" sz="2800" dirty="0" smtClean="0"/>
                  <a:t>)</a:t>
                </a:r>
              </a:p>
              <a:p>
                <a:r>
                  <a:rPr lang="en-US" altLang="zh-TW" sz="2800" dirty="0" smtClean="0"/>
                  <a:t>Finally, a </a:t>
                </a:r>
                <a:r>
                  <a:rPr lang="en-US" altLang="zh-TW" sz="2800" b="1" dirty="0" smtClean="0"/>
                  <a:t>512-D vector</a:t>
                </a:r>
                <a:r>
                  <a:rPr lang="en-US" altLang="zh-TW" sz="2800" dirty="0" smtClean="0"/>
                  <a:t> before sigmoid</a:t>
                </a:r>
              </a:p>
              <a:p>
                <a:r>
                  <a:rPr lang="en-US" altLang="zh-TW" sz="2800" dirty="0" smtClean="0"/>
                  <a:t>We use the 512-D vector for </a:t>
                </a:r>
                <a:r>
                  <a:rPr lang="en-US" altLang="zh-TW" sz="2800" dirty="0"/>
                  <a:t>contrastive </a:t>
                </a:r>
                <a:r>
                  <a:rPr lang="en-US" altLang="zh-TW" sz="2800" dirty="0" smtClean="0"/>
                  <a:t>learning</a:t>
                </a:r>
              </a:p>
              <a:p>
                <a:pPr lvl="1"/>
                <a:r>
                  <a:rPr lang="en-US" altLang="zh-TW" sz="2400" b="1" i="1" dirty="0" smtClean="0"/>
                  <a:t>h</a:t>
                </a:r>
                <a:r>
                  <a:rPr lang="en-US" altLang="zh-TW" sz="2400" dirty="0" smtClean="0"/>
                  <a:t>: </a:t>
                </a:r>
                <a:r>
                  <a:rPr lang="en-US" altLang="zh-TW" sz="2400" dirty="0" err="1" smtClean="0"/>
                  <a:t>SampleCNN</a:t>
                </a:r>
                <a:r>
                  <a:rPr lang="en-US" altLang="zh-TW" sz="2400" dirty="0" smtClean="0"/>
                  <a:t> encoder output</a:t>
                </a:r>
              </a:p>
              <a:p>
                <a:pPr lvl="1"/>
                <a:r>
                  <a:rPr lang="en-US" altLang="zh-TW" sz="2400" b="1" i="1" dirty="0" smtClean="0"/>
                  <a:t>z</a:t>
                </a:r>
                <a:r>
                  <a:rPr lang="en-US" altLang="zh-TW" sz="2400" dirty="0" smtClean="0"/>
                  <a:t>: Output of the projection layer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5" t="-12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  <p:sp>
        <p:nvSpPr>
          <p:cNvPr id="6" name="矩形 5"/>
          <p:cNvSpPr/>
          <p:nvPr/>
        </p:nvSpPr>
        <p:spPr bwMode="auto">
          <a:xfrm>
            <a:off x="8256240" y="970039"/>
            <a:ext cx="3263719" cy="4217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746" y="404664"/>
            <a:ext cx="3423959" cy="608451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84" y="4764477"/>
            <a:ext cx="6239746" cy="196242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5"/>
          <a:srcRect t="5680" r="80802" b="30439"/>
          <a:stretch/>
        </p:blipFill>
        <p:spPr>
          <a:xfrm>
            <a:off x="6968261" y="3735813"/>
            <a:ext cx="1436232" cy="29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6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Code: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InfoNCE</a:t>
            </a:r>
            <a:endParaRPr lang="zh-TW" altLang="en-US" dirty="0"/>
          </a:p>
        </p:txBody>
      </p:sp>
      <p:sp>
        <p:nvSpPr>
          <p:cNvPr id="9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</p:spPr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  <p:sp>
        <p:nvSpPr>
          <p:cNvPr id="14" name="矩形 13"/>
          <p:cNvSpPr/>
          <p:nvPr/>
        </p:nvSpPr>
        <p:spPr bwMode="auto">
          <a:xfrm>
            <a:off x="13440816" y="1844824"/>
            <a:ext cx="2163954" cy="8640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4522793" y="6021288"/>
            <a:ext cx="914400" cy="914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527051" y="1937790"/>
            <a:ext cx="11137900" cy="4155505"/>
          </a:xfrm>
        </p:spPr>
        <p:txBody>
          <a:bodyPr/>
          <a:lstStyle/>
          <a:p>
            <a:r>
              <a:rPr lang="en-US" altLang="zh-TW" sz="2400" i="1" dirty="0" smtClean="0"/>
              <a:t>z</a:t>
            </a:r>
            <a:r>
              <a:rPr lang="en-US" altLang="zh-TW" sz="2400" i="1" baseline="-25000" dirty="0" smtClean="0"/>
              <a:t>i,0</a:t>
            </a:r>
            <a:r>
              <a:rPr lang="en-US" altLang="zh-TW" sz="2400" dirty="0" smtClean="0"/>
              <a:t> and z</a:t>
            </a:r>
            <a:r>
              <a:rPr lang="en-US" altLang="zh-TW" sz="2400" baseline="-25000" dirty="0" smtClean="0"/>
              <a:t>j,0</a:t>
            </a:r>
            <a:r>
              <a:rPr lang="en-US" altLang="zh-TW" sz="2400" dirty="0" smtClean="0"/>
              <a:t> are both from input 0, so they form a positive pair</a:t>
            </a:r>
          </a:p>
          <a:p>
            <a:r>
              <a:rPr lang="en-US" altLang="zh-TW" sz="2400" dirty="0" smtClean="0"/>
              <a:t>Similarly, </a:t>
            </a:r>
            <a:r>
              <a:rPr lang="en-US" altLang="zh-TW" sz="2400" i="1" dirty="0" err="1" smtClean="0"/>
              <a:t>z</a:t>
            </a:r>
            <a:r>
              <a:rPr lang="en-US" altLang="zh-TW" sz="2400" i="1" baseline="-25000" dirty="0" err="1" smtClean="0"/>
              <a:t>i,N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and </a:t>
            </a:r>
            <a:r>
              <a:rPr lang="en-US" altLang="zh-TW" sz="2400" dirty="0" err="1" smtClean="0"/>
              <a:t>z</a:t>
            </a:r>
            <a:r>
              <a:rPr lang="en-US" altLang="zh-TW" sz="2400" baseline="-25000" dirty="0" err="1" smtClean="0"/>
              <a:t>j,N</a:t>
            </a:r>
            <a:r>
              <a:rPr lang="en-US" altLang="zh-TW" sz="2400" dirty="0" smtClean="0"/>
              <a:t> form a positive pair</a:t>
            </a:r>
          </a:p>
          <a:p>
            <a:r>
              <a:rPr lang="en-US" altLang="zh-TW" sz="2400" dirty="0" smtClean="0"/>
              <a:t>Originally, the positive pairs </a:t>
            </a:r>
            <a:r>
              <a:rPr lang="en-US" altLang="zh-TW" sz="2400" dirty="0"/>
              <a:t>are located </a:t>
            </a:r>
            <a:r>
              <a:rPr lang="en-US" altLang="zh-TW" sz="2400" i="1" dirty="0" smtClean="0"/>
              <a:t>N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columns away, </a:t>
            </a:r>
            <a:r>
              <a:rPr lang="en-US" altLang="zh-TW" sz="2400" dirty="0" smtClean="0"/>
              <a:t>off-diagonal</a:t>
            </a:r>
          </a:p>
          <a:p>
            <a:r>
              <a:rPr lang="en-US" altLang="zh-TW" sz="2400" dirty="0" smtClean="0"/>
              <a:t>With some </a:t>
            </a:r>
            <a:r>
              <a:rPr lang="en-US" altLang="zh-TW" sz="2400" dirty="0"/>
              <a:t>code trick, </a:t>
            </a:r>
            <a:r>
              <a:rPr lang="en-US" altLang="zh-TW" sz="2400" dirty="0" smtClean="0"/>
              <a:t>the positive </a:t>
            </a:r>
            <a:r>
              <a:rPr lang="en-US" altLang="zh-TW" sz="2400" dirty="0"/>
              <a:t>pairs align directly along the </a:t>
            </a:r>
            <a:r>
              <a:rPr lang="en-US" altLang="zh-TW" sz="2400" b="1" dirty="0"/>
              <a:t>main diagonal</a:t>
            </a:r>
          </a:p>
          <a:p>
            <a:endParaRPr lang="en-US" altLang="zh-TW" sz="2400" dirty="0" smtClean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b="84265"/>
          <a:stretch/>
        </p:blipFill>
        <p:spPr>
          <a:xfrm>
            <a:off x="4548258" y="1023391"/>
            <a:ext cx="7480977" cy="73676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3954569"/>
            <a:ext cx="9250066" cy="2705478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14459" y="5459675"/>
            <a:ext cx="4511536" cy="7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Code: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InfoNCE</a:t>
            </a:r>
            <a:r>
              <a:rPr lang="en-US" altLang="zh-TW" dirty="0" smtClean="0"/>
              <a:t> (</a:t>
            </a:r>
            <a:r>
              <a:rPr lang="en-US" altLang="zh-TW" dirty="0" err="1" smtClean="0"/>
              <a:t>Cont</a:t>
            </a:r>
            <a:r>
              <a:rPr lang="en-US" altLang="zh-TW" dirty="0" smtClean="0"/>
              <a:t>’)</a:t>
            </a:r>
            <a:endParaRPr lang="zh-TW" altLang="en-US" dirty="0"/>
          </a:p>
        </p:txBody>
      </p:sp>
      <p:sp>
        <p:nvSpPr>
          <p:cNvPr id="9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</p:spPr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14</a:t>
            </a:fld>
            <a:endParaRPr lang="en-US" altLang="zh-TW" dirty="0"/>
          </a:p>
        </p:txBody>
      </p:sp>
      <p:sp>
        <p:nvSpPr>
          <p:cNvPr id="14" name="矩形 13"/>
          <p:cNvSpPr/>
          <p:nvPr/>
        </p:nvSpPr>
        <p:spPr bwMode="auto">
          <a:xfrm>
            <a:off x="13440816" y="1844824"/>
            <a:ext cx="2163954" cy="8640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4522793" y="6021288"/>
            <a:ext cx="914400" cy="914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27051" y="1103314"/>
                <a:ext cx="11137900" cy="4989982"/>
              </a:xfrm>
            </p:spPr>
            <p:txBody>
              <a:bodyPr/>
              <a:lstStyle/>
              <a:p>
                <a:r>
                  <a:rPr lang="en-US" altLang="zh-TW" sz="2400" dirty="0"/>
                  <a:t>The denominator acts like a </a:t>
                </a:r>
                <a:r>
                  <a:rPr lang="en-US" altLang="zh-TW" sz="2400" dirty="0" err="1"/>
                  <a:t>Softmax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normalizer; it </a:t>
                </a:r>
                <a:r>
                  <a:rPr lang="en-US" altLang="zh-TW" sz="2400" dirty="0"/>
                  <a:t>sums the </a:t>
                </a:r>
                <a:r>
                  <a:rPr lang="en-US" altLang="zh-TW" sz="2400" dirty="0" err="1"/>
                  <a:t>exponentiated</a:t>
                </a:r>
                <a:r>
                  <a:rPr lang="en-US" altLang="zh-TW" sz="2400" dirty="0"/>
                  <a:t> similarities across all pairs for a given sample, excluding </a:t>
                </a:r>
                <a:r>
                  <a:rPr lang="en-US" altLang="zh-TW" sz="2400" dirty="0" smtClean="0"/>
                  <a:t>self-similarity</a:t>
                </a:r>
              </a:p>
              <a:p>
                <a:pPr lvl="1"/>
                <a:r>
                  <a:rPr lang="en-US" altLang="zh-TW" sz="2000" dirty="0" smtClean="0"/>
                  <a:t>Self-similarity (blue</a:t>
                </a:r>
                <a:r>
                  <a:rPr lang="en-US" altLang="zh-TW" sz="2000" dirty="0"/>
                  <a:t>): masked </a:t>
                </a:r>
                <a:r>
                  <a:rPr lang="en-US" altLang="zh-TW" sz="2000" dirty="0" smtClean="0"/>
                  <a:t>out (           ) </a:t>
                </a:r>
              </a:p>
              <a:p>
                <a:pPr lvl="1"/>
                <a:r>
                  <a:rPr lang="en-US" altLang="zh-TW" sz="2000" dirty="0"/>
                  <a:t>Positive </a:t>
                </a:r>
                <a:r>
                  <a:rPr lang="en-US" altLang="zh-TW" sz="2000" dirty="0" smtClean="0"/>
                  <a:t>pair (red)</a:t>
                </a:r>
              </a:p>
              <a:p>
                <a:pPr lvl="1"/>
                <a:r>
                  <a:rPr lang="en-US" altLang="zh-TW" sz="2000" dirty="0"/>
                  <a:t>Negative pair (white): All other </a:t>
                </a:r>
                <a:r>
                  <a:rPr lang="en-US" altLang="zh-TW" sz="2000" dirty="0" smtClean="0"/>
                  <a:t>2</a:t>
                </a:r>
                <a:r>
                  <a:rPr lang="en-US" altLang="zh-TW" sz="2000" i="1" dirty="0" smtClean="0"/>
                  <a:t>N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TW" sz="2000" dirty="0" smtClean="0"/>
                  <a:t>2 </a:t>
                </a:r>
                <a:r>
                  <a:rPr lang="en-US" altLang="zh-TW" sz="2000" dirty="0"/>
                  <a:t>entries in that row are </a:t>
                </a:r>
                <a:r>
                  <a:rPr lang="en-US" altLang="zh-TW" sz="2000" dirty="0" smtClean="0"/>
                  <a:t>from </a:t>
                </a:r>
                <a:r>
                  <a:rPr lang="en-US" altLang="zh-TW" sz="2000" dirty="0"/>
                  <a:t>different audio clips</a:t>
                </a:r>
                <a:endParaRPr lang="en-US" altLang="zh-TW" sz="2000" dirty="0" smtClean="0"/>
              </a:p>
            </p:txBody>
          </p:sp>
        </mc:Choice>
        <mc:Fallback xmlns="">
          <p:sp>
            <p:nvSpPr>
              <p:cNvPr id="10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051" y="1103314"/>
                <a:ext cx="11137900" cy="4989982"/>
              </a:xfrm>
              <a:blipFill>
                <a:blip r:embed="rId2"/>
                <a:stretch>
                  <a:fillRect l="-711" t="-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3085" y="4160350"/>
            <a:ext cx="4511536" cy="77785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488" y="3301215"/>
            <a:ext cx="5411519" cy="3269459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43094" t="55545" r="44137"/>
          <a:stretch/>
        </p:blipFill>
        <p:spPr>
          <a:xfrm>
            <a:off x="4943872" y="1931069"/>
            <a:ext cx="576064" cy="34580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1552" y="5085184"/>
            <a:ext cx="4385593" cy="5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6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Code:</a:t>
            </a:r>
            <a:r>
              <a:rPr lang="zh-TW" altLang="en-US" dirty="0" smtClean="0"/>
              <a:t> </a:t>
            </a:r>
            <a:r>
              <a:rPr lang="en-US" altLang="zh-TW" dirty="0" smtClean="0"/>
              <a:t>Supervised </a:t>
            </a:r>
            <a:r>
              <a:rPr lang="en-US" altLang="zh-TW" dirty="0" err="1" smtClean="0"/>
              <a:t>Finetuning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0034" y="1103313"/>
            <a:ext cx="1151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https://music-classification.github.io/tutorial/part5_beyond/self-supervised-learning.html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0991851" y="6381757"/>
            <a:ext cx="1056216" cy="360363"/>
          </a:xfrm>
        </p:spPr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15</a:t>
            </a:fld>
            <a:endParaRPr lang="en-US" altLang="zh-TW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3"/>
          <a:srcRect b="87534"/>
          <a:stretch/>
        </p:blipFill>
        <p:spPr>
          <a:xfrm>
            <a:off x="538930" y="1651682"/>
            <a:ext cx="7983064" cy="792088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3"/>
          <a:srcRect t="30598"/>
          <a:stretch/>
        </p:blipFill>
        <p:spPr>
          <a:xfrm>
            <a:off x="538930" y="2440760"/>
            <a:ext cx="7983064" cy="440984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1123734" y="3789040"/>
            <a:ext cx="2163954" cy="8640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393" y="4457551"/>
            <a:ext cx="4867954" cy="1657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354" y="6352359"/>
            <a:ext cx="4077269" cy="2095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393" y="1564978"/>
            <a:ext cx="5534071" cy="2639326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312468" y="3939302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(not 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for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finetuning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21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Exemplar </a:t>
            </a:r>
            <a:r>
              <a:rPr lang="en-US" altLang="zh-TW" dirty="0" smtClean="0"/>
              <a:t>Model: </a:t>
            </a:r>
            <a:r>
              <a:rPr lang="en-US" altLang="zh-TW" dirty="0"/>
              <a:t>CLMR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374499" y="1103313"/>
            <a:ext cx="114430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4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music-classification.github.io/tutorial/part5_beyond/self-supervised-learning.html</a:t>
            </a:r>
            <a:r>
              <a:rPr lang="en-US" altLang="zh-TW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7161" y="6341536"/>
            <a:ext cx="9607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Spijkervet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Burgoyne, “Contrastive Learning of Musical Representations,”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ISMIR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512" y="1612115"/>
            <a:ext cx="7480977" cy="468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Pre-Training Strategies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“Foundation models are pre-trained in a self-supervised fashion on large-scale datasets, avoiding or </a:t>
            </a:r>
            <a:r>
              <a:rPr lang="en-US" altLang="zh-TW" sz="2800" dirty="0" err="1"/>
              <a:t>minimising</a:t>
            </a:r>
            <a:r>
              <a:rPr lang="en-US" altLang="zh-TW" sz="2800" dirty="0"/>
              <a:t> the need for labelled </a:t>
            </a:r>
            <a:r>
              <a:rPr lang="en-US" altLang="zh-TW" sz="2800" dirty="0" smtClean="0"/>
              <a:t>data”</a:t>
            </a:r>
          </a:p>
          <a:p>
            <a:r>
              <a:rPr lang="en-US" altLang="zh-TW" sz="2800" dirty="0" smtClean="0"/>
              <a:t>Mainstream strategies</a:t>
            </a:r>
          </a:p>
          <a:p>
            <a:pPr lvl="1"/>
            <a:r>
              <a:rPr lang="en-US" altLang="zh-TW" sz="2400" dirty="0"/>
              <a:t>Generative pre-training</a:t>
            </a:r>
            <a:r>
              <a:rPr lang="zh-TW" altLang="en-US" sz="2400" dirty="0"/>
              <a:t> </a:t>
            </a:r>
            <a:r>
              <a:rPr lang="en-US" altLang="zh-TW" sz="2400" dirty="0"/>
              <a:t>(e.g., AE or VQVAE)</a:t>
            </a:r>
          </a:p>
          <a:p>
            <a:pPr lvl="1"/>
            <a:r>
              <a:rPr lang="en-US" altLang="zh-TW" sz="2400" b="1" dirty="0" smtClean="0"/>
              <a:t>Contrastive </a:t>
            </a:r>
            <a:r>
              <a:rPr lang="en-US" altLang="zh-TW" sz="2400" b="1" dirty="0" smtClean="0"/>
              <a:t>learning </a:t>
            </a:r>
            <a:r>
              <a:rPr lang="en-US" altLang="zh-TW" sz="2400" b="1" dirty="0" smtClean="0"/>
              <a:t>(</a:t>
            </a:r>
            <a:r>
              <a:rPr lang="en-US" altLang="zh-TW" sz="2400" b="1" dirty="0"/>
              <a:t>e.g., </a:t>
            </a:r>
            <a:r>
              <a:rPr lang="en-US" altLang="zh-TW" sz="2400" b="1" dirty="0" err="1"/>
              <a:t>SimCLR</a:t>
            </a:r>
            <a:r>
              <a:rPr lang="en-US" altLang="zh-TW" sz="2400" b="1" dirty="0"/>
              <a:t>)</a:t>
            </a:r>
            <a:endParaRPr lang="en-US" altLang="zh-TW" sz="2400" b="1" dirty="0" smtClean="0"/>
          </a:p>
          <a:p>
            <a:pPr lvl="1"/>
            <a:r>
              <a:rPr lang="en-US" altLang="zh-TW" sz="2400" b="1" dirty="0" smtClean="0">
                <a:solidFill>
                  <a:srgbClr val="0066FF"/>
                </a:solidFill>
              </a:rPr>
              <a:t>Masked </a:t>
            </a:r>
            <a:r>
              <a:rPr lang="en-US" altLang="zh-TW" sz="2400" b="1" dirty="0" smtClean="0">
                <a:solidFill>
                  <a:srgbClr val="0066FF"/>
                </a:solidFill>
              </a:rPr>
              <a:t>modelling</a:t>
            </a:r>
            <a:r>
              <a:rPr lang="en-US" altLang="zh-TW" sz="2400" b="1" dirty="0">
                <a:solidFill>
                  <a:srgbClr val="0066FF"/>
                </a:solidFill>
              </a:rPr>
              <a:t> (e.g., </a:t>
            </a:r>
            <a:r>
              <a:rPr lang="en-US" altLang="zh-TW" sz="2400" b="1" dirty="0" smtClean="0">
                <a:solidFill>
                  <a:srgbClr val="0066FF"/>
                </a:solidFill>
              </a:rPr>
              <a:t>BERT</a:t>
            </a:r>
            <a:r>
              <a:rPr lang="zh-TW" altLang="en-US" sz="2400" b="1" dirty="0" smtClean="0">
                <a:solidFill>
                  <a:srgbClr val="0066FF"/>
                </a:solidFill>
              </a:rPr>
              <a:t> </a:t>
            </a:r>
            <a:r>
              <a:rPr lang="en-US" altLang="zh-TW" sz="2400" b="1" dirty="0" smtClean="0">
                <a:solidFill>
                  <a:srgbClr val="0066FF"/>
                </a:solidFill>
              </a:rPr>
              <a:t>or MAE)</a:t>
            </a:r>
          </a:p>
          <a:p>
            <a:pPr lvl="1"/>
            <a:r>
              <a:rPr lang="en-US" altLang="zh-TW" sz="2400" dirty="0"/>
              <a:t>Predictive </a:t>
            </a:r>
            <a:r>
              <a:rPr lang="en-US" altLang="zh-TW" sz="2400" dirty="0" smtClean="0"/>
              <a:t>joint-embedding (e.g., JEPA)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1946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MERT: “</a:t>
            </a:r>
            <a:r>
              <a:rPr lang="en-US" altLang="zh-TW" dirty="0" err="1" smtClean="0"/>
              <a:t>M”usic</a:t>
            </a:r>
            <a:r>
              <a:rPr lang="en-US" altLang="zh-TW" dirty="0" smtClean="0"/>
              <a:t> Version of BERT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61654" y="1103313"/>
            <a:ext cx="5068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github.com/yizhilll/MERT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1824" y="2030078"/>
            <a:ext cx="7858666" cy="41034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2"/>
              <p:cNvSpPr txBox="1">
                <a:spLocks/>
              </p:cNvSpPr>
              <p:nvPr/>
            </p:nvSpPr>
            <p:spPr bwMode="auto">
              <a:xfrm>
                <a:off x="191345" y="1772816"/>
                <a:ext cx="4680520" cy="4320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4">
                      <a:lumMod val="65000"/>
                      <a:lumOff val="35000"/>
                    </a:schemeClr>
                  </a:buClr>
                  <a:buFont typeface="Arial" charset="0"/>
                  <a:buChar char="•"/>
                  <a:defRPr kumimoji="1" sz="32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32" indent="-28574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99"/>
                  </a:buClr>
                  <a:buFont typeface="標楷體" panose="03000509000000000000" pitchFamily="65" charset="-120"/>
                  <a:buChar char="–"/>
                  <a:defRPr kumimoji="1" sz="28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71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Calibri" panose="020F0502020204030204" pitchFamily="34" charset="0"/>
                  <a:buChar char="◦"/>
                  <a:defRPr kumimoji="1" sz="24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3pPr>
                <a:lvl4pPr marL="1600160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itchFamily="2" charset="2"/>
                  <a:buChar char="p"/>
                  <a:defRPr kumimoji="1" sz="20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4pPr>
                <a:lvl5pPr marL="2057349" indent="-228594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 baseline="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5pPr>
                <a:lvl6pPr marL="2514537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C3300"/>
                  </a:buClr>
                  <a:buFont typeface="Arial" charset="0"/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TW" sz="2800" kern="0" dirty="0" smtClean="0"/>
                  <a:t>Use </a:t>
                </a:r>
                <a:r>
                  <a:rPr lang="en-US" altLang="zh-TW" sz="2800" b="1" kern="0" dirty="0" smtClean="0"/>
                  <a:t>sample-level</a:t>
                </a:r>
                <a:r>
                  <a:rPr lang="en-US" altLang="zh-TW" sz="2800" kern="0" dirty="0" smtClean="0"/>
                  <a:t> CNNs</a:t>
                </a:r>
              </a:p>
              <a:p>
                <a:pPr lvl="1"/>
                <a:r>
                  <a:rPr lang="en-US" altLang="zh-TW" sz="2400" b="1" dirty="0"/>
                  <a:t>5-second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clips as input</a:t>
                </a:r>
              </a:p>
              <a:p>
                <a:pPr lvl="1"/>
                <a:r>
                  <a:rPr lang="en-US" altLang="zh-TW" sz="2400" dirty="0" smtClean="0"/>
                  <a:t>75</a:t>
                </a:r>
                <a:r>
                  <a:rPr lang="zh-TW" altLang="en-US" sz="2400" dirty="0" smtClean="0"/>
                  <a:t> </a:t>
                </a:r>
                <a:r>
                  <a:rPr lang="en-US" altLang="zh-TW" sz="2400" dirty="0" err="1"/>
                  <a:t>embeddings</a:t>
                </a:r>
                <a:r>
                  <a:rPr lang="en-US" altLang="zh-TW" sz="2400" dirty="0"/>
                  <a:t> per </a:t>
                </a:r>
                <a:r>
                  <a:rPr lang="en-US" altLang="zh-TW" sz="2400" dirty="0" smtClean="0"/>
                  <a:t>second</a:t>
                </a:r>
              </a:p>
              <a:p>
                <a:r>
                  <a:rPr lang="en-US" altLang="zh-TW" sz="2800" dirty="0" smtClean="0"/>
                  <a:t>Two sizes</a:t>
                </a:r>
              </a:p>
              <a:p>
                <a:pPr lvl="1"/>
                <a:r>
                  <a:rPr lang="en-US" altLang="zh-TW" sz="2400" dirty="0" smtClean="0"/>
                  <a:t>95M: 12 Transformer layers</a:t>
                </a:r>
              </a:p>
              <a:p>
                <a:pPr lvl="1"/>
                <a:r>
                  <a:rPr lang="en-US" altLang="zh-TW" sz="2400" dirty="0" smtClean="0"/>
                  <a:t>330M</a:t>
                </a:r>
                <a:r>
                  <a:rPr lang="en-US" altLang="zh-TW" sz="2400" dirty="0"/>
                  <a:t>: </a:t>
                </a:r>
                <a:r>
                  <a:rPr lang="en-US" altLang="zh-TW" sz="2400" dirty="0" smtClean="0"/>
                  <a:t>24 </a:t>
                </a:r>
                <a:r>
                  <a:rPr lang="en-US" altLang="zh-TW" sz="2400" dirty="0"/>
                  <a:t>Transformer </a:t>
                </a:r>
                <a:r>
                  <a:rPr lang="en-US" altLang="zh-TW" sz="2400" dirty="0" smtClean="0"/>
                  <a:t>layers</a:t>
                </a:r>
              </a:p>
              <a:p>
                <a:r>
                  <a:rPr lang="en-US" altLang="zh-TW" sz="2800" b="1" dirty="0"/>
                  <a:t>Masked language modeling</a:t>
                </a:r>
              </a:p>
              <a:p>
                <a:pPr lvl="1"/>
                <a:r>
                  <a:rPr lang="en-US" altLang="zh-TW" sz="2400" dirty="0"/>
                  <a:t>acoustic teacher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</a:p>
              <a:p>
                <a:pPr lvl="1"/>
                <a:r>
                  <a:rPr lang="en-US" altLang="zh-TW" sz="2400" dirty="0"/>
                  <a:t>musical teacher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𝐶𝑄𝑇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  <a:endParaRPr lang="en-US" altLang="zh-TW" sz="2800" dirty="0"/>
              </a:p>
            </p:txBody>
          </p:sp>
        </mc:Choice>
        <mc:Fallback xmlns="">
          <p:sp>
            <p:nvSpPr>
              <p:cNvPr id="9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45" y="1772816"/>
                <a:ext cx="4680520" cy="4320480"/>
              </a:xfrm>
              <a:prstGeom prst="rect">
                <a:avLst/>
              </a:prstGeom>
              <a:blipFill>
                <a:blip r:embed="rId4"/>
                <a:stretch>
                  <a:fillRect l="-2344" t="-141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87161" y="6341536"/>
            <a:ext cx="11590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“MERT: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Acoustic music understanding model with large-scale self-supervised training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ICLR 2024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3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7161" y="6341536"/>
            <a:ext cx="11590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“MERT: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Acoustic music understanding model with large-scale self-supervised training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ICLR 2024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27050" y="836712"/>
                <a:ext cx="11664949" cy="5256584"/>
              </a:xfrm>
            </p:spPr>
            <p:txBody>
              <a:bodyPr/>
              <a:lstStyle/>
              <a:p>
                <a:r>
                  <a:rPr lang="en-US" altLang="zh-TW" sz="2800" dirty="0" smtClean="0"/>
                  <a:t>Why two teachers?</a:t>
                </a:r>
              </a:p>
              <a:p>
                <a:pPr lvl="1"/>
                <a:r>
                  <a:rPr lang="en-US" altLang="zh-TW" sz="2400" b="1" dirty="0"/>
                  <a:t>acoustic</a:t>
                </a:r>
                <a:r>
                  <a:rPr lang="en-US" altLang="zh-TW" sz="2400" dirty="0"/>
                  <a:t> </a:t>
                </a:r>
                <a:r>
                  <a:rPr lang="en-US" altLang="zh-TW" sz="2400" b="1" dirty="0" smtClean="0"/>
                  <a:t>teacher</a:t>
                </a:r>
                <a:r>
                  <a:rPr lang="zh-TW" altLang="en-US" sz="2400" dirty="0" smtClean="0"/>
                  <a:t> </a:t>
                </a:r>
                <a:r>
                  <a:rPr lang="en-US" altLang="zh-TW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400" dirty="0" smtClean="0"/>
                  <a:t>):</a:t>
                </a:r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focus on timbre via predicting </a:t>
                </a:r>
                <a:r>
                  <a:rPr lang="en-US" altLang="zh-TW" sz="2400" dirty="0" err="1" smtClean="0"/>
                  <a:t>HuBERT</a:t>
                </a:r>
                <a:r>
                  <a:rPr lang="en-US" altLang="zh-TW" sz="2400" dirty="0" smtClean="0"/>
                  <a:t> or </a:t>
                </a:r>
                <a:r>
                  <a:rPr lang="en-US" altLang="zh-TW" sz="2400" dirty="0" err="1" smtClean="0"/>
                  <a:t>Encodec</a:t>
                </a:r>
                <a:r>
                  <a:rPr lang="en-US" altLang="zh-TW" sz="2400" dirty="0" smtClean="0"/>
                  <a:t> </a:t>
                </a:r>
                <a:r>
                  <a:rPr lang="en-US" altLang="zh-TW" sz="2400" dirty="0" err="1" smtClean="0"/>
                  <a:t>embeddings</a:t>
                </a:r>
                <a:endParaRPr lang="en-US" altLang="zh-TW" sz="2400" dirty="0" smtClean="0"/>
              </a:p>
              <a:p>
                <a:pPr lvl="1"/>
                <a:r>
                  <a:rPr lang="en-US" altLang="zh-TW" sz="2400" b="1" dirty="0"/>
                  <a:t>musical</a:t>
                </a:r>
                <a:r>
                  <a:rPr lang="en-US" altLang="zh-TW" sz="2400" dirty="0"/>
                  <a:t> </a:t>
                </a:r>
                <a:r>
                  <a:rPr lang="en-US" altLang="zh-TW" sz="2400" b="1" dirty="0"/>
                  <a:t>teacher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𝐶𝑄𝑇</m:t>
                        </m:r>
                      </m:sub>
                    </m:sSub>
                  </m:oMath>
                </a14:m>
                <a:r>
                  <a:rPr lang="en-US" altLang="zh-TW" sz="2400" dirty="0"/>
                  <a:t>): focus on </a:t>
                </a:r>
                <a:r>
                  <a:rPr lang="en-US" altLang="zh-TW" sz="2400" dirty="0" smtClean="0"/>
                  <a:t>pitch/harmonic information</a:t>
                </a:r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via predicting CQT</a:t>
                </a:r>
              </a:p>
              <a:p>
                <a:pPr lvl="1"/>
                <a:r>
                  <a:rPr lang="en-US" altLang="zh-TW" sz="2400" dirty="0" smtClean="0"/>
                  <a:t>adding </a:t>
                </a:r>
                <a:r>
                  <a:rPr lang="en-US" altLang="zh-TW" sz="2400" dirty="0"/>
                  <a:t>the </a:t>
                </a:r>
                <a:r>
                  <a:rPr lang="en-US" altLang="zh-TW" sz="2400" dirty="0" smtClean="0"/>
                  <a:t>music teacher led </a:t>
                </a:r>
                <a:r>
                  <a:rPr lang="en-US" altLang="zh-TW" sz="2400" dirty="0"/>
                  <a:t>to direct improvements in pitch classification, chord recognition, key detection, and beat tracking </a:t>
                </a:r>
                <a:r>
                  <a:rPr lang="en-US" altLang="zh-TW" sz="2400" dirty="0" smtClean="0"/>
                  <a:t>tasks</a:t>
                </a:r>
              </a:p>
              <a:p>
                <a:pPr lvl="1"/>
                <a:r>
                  <a:rPr lang="en-US" altLang="zh-TW" sz="2400" dirty="0" smtClean="0"/>
                  <a:t>middle Transformer layers </a:t>
                </a:r>
                <a:r>
                  <a:rPr lang="en-US" altLang="zh-TW" sz="2400" dirty="0"/>
                  <a:t>tend to capture </a:t>
                </a:r>
                <a:r>
                  <a:rPr lang="en-US" altLang="zh-TW" sz="2400" dirty="0" smtClean="0"/>
                  <a:t>pitch-related </a:t>
                </a:r>
                <a:r>
                  <a:rPr lang="en-US" altLang="zh-TW" sz="2400" dirty="0"/>
                  <a:t>harmonic properties, while deeper layers integrate complex temporal and global acoustic </a:t>
                </a:r>
                <a:r>
                  <a:rPr lang="en-US" altLang="zh-TW" sz="2400" dirty="0" smtClean="0"/>
                  <a:t>context</a:t>
                </a:r>
              </a:p>
              <a:p>
                <a:r>
                  <a:rPr lang="en-US" altLang="zh-TW" sz="2800" b="1" dirty="0" err="1" smtClean="0"/>
                  <a:t>Finetuning</a:t>
                </a:r>
                <a:r>
                  <a:rPr lang="en-US" altLang="zh-TW" sz="2800" dirty="0" smtClean="0"/>
                  <a:t> strategy</a:t>
                </a:r>
              </a:p>
              <a:p>
                <a:pPr lvl="1"/>
                <a:r>
                  <a:rPr lang="en-US" altLang="zh-TW" sz="2400" dirty="0" smtClean="0"/>
                  <a:t>freeze </a:t>
                </a:r>
                <a:r>
                  <a:rPr lang="en-US" altLang="zh-TW" sz="2400" dirty="0"/>
                  <a:t>the backbone pre-trained </a:t>
                </a:r>
                <a:r>
                  <a:rPr lang="en-US" altLang="zh-TW" sz="2400" dirty="0" smtClean="0"/>
                  <a:t>models</a:t>
                </a:r>
              </a:p>
              <a:p>
                <a:pPr lvl="1"/>
                <a:r>
                  <a:rPr lang="en-US" altLang="zh-TW" sz="2400" dirty="0" smtClean="0"/>
                  <a:t>get a learnable </a:t>
                </a:r>
                <a:r>
                  <a:rPr lang="en-US" altLang="zh-TW" sz="2400" b="1" dirty="0" smtClean="0"/>
                  <a:t>weight sum of the output of all Transformer layers </a:t>
                </a:r>
                <a:r>
                  <a:rPr lang="en-US" altLang="zh-TW" sz="2400" dirty="0" smtClean="0"/>
                  <a:t> </a:t>
                </a:r>
              </a:p>
              <a:p>
                <a:pPr lvl="1"/>
                <a:r>
                  <a:rPr lang="en-US" altLang="zh-TW" sz="2400" dirty="0"/>
                  <a:t>train a simple </a:t>
                </a:r>
                <a:r>
                  <a:rPr lang="en-US" altLang="zh-TW" sz="2400" dirty="0" smtClean="0"/>
                  <a:t>one linear layer (“</a:t>
                </a:r>
                <a:r>
                  <a:rPr lang="en-US" altLang="zh-TW" sz="2400" b="1" dirty="0" smtClean="0"/>
                  <a:t>linear probe</a:t>
                </a:r>
                <a:r>
                  <a:rPr lang="en-US" altLang="zh-TW" sz="2400" dirty="0" smtClean="0"/>
                  <a:t>”) for downstream frame-level tasks</a:t>
                </a:r>
              </a:p>
              <a:p>
                <a:pPr lvl="1"/>
                <a:r>
                  <a:rPr lang="en-US" altLang="zh-TW" sz="2400" dirty="0" smtClean="0"/>
                  <a:t>do </a:t>
                </a:r>
                <a:r>
                  <a:rPr lang="en-US" altLang="zh-TW" sz="2400" b="1" dirty="0" smtClean="0"/>
                  <a:t>pooling</a:t>
                </a:r>
                <a:r>
                  <a:rPr lang="en-US" altLang="zh-TW" sz="2400" dirty="0" smtClean="0"/>
                  <a:t> to get an aggregated vector if the downstream task is clip-level</a:t>
                </a:r>
              </a:p>
              <a:p>
                <a:pPr lvl="1"/>
                <a:endParaRPr lang="zh-TW" altLang="en-US" sz="2400" dirty="0"/>
              </a:p>
            </p:txBody>
          </p:sp>
        </mc:Choice>
        <mc:Fallback xmlns="">
          <p:sp>
            <p:nvSpPr>
              <p:cNvPr id="10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050" y="836712"/>
                <a:ext cx="11664949" cy="5256584"/>
              </a:xfrm>
              <a:blipFill>
                <a:blip r:embed="rId2"/>
                <a:stretch>
                  <a:fillRect l="-940" t="-1043" b="-34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732" y="3933056"/>
            <a:ext cx="2862383" cy="799082"/>
          </a:xfrm>
          <a:prstGeom prst="rect">
            <a:avLst/>
          </a:prstGeom>
        </p:spPr>
      </p:pic>
      <p:sp>
        <p:nvSpPr>
          <p:cNvPr id="13" name="圓角矩形圖說文字 12"/>
          <p:cNvSpPr/>
          <p:nvPr/>
        </p:nvSpPr>
        <p:spPr bwMode="auto">
          <a:xfrm>
            <a:off x="8906344" y="3933056"/>
            <a:ext cx="3071747" cy="864096"/>
          </a:xfrm>
          <a:prstGeom prst="wedgeRoundRectCallout">
            <a:avLst>
              <a:gd name="adj1" fmla="val -61764"/>
              <a:gd name="adj2" fmla="val 49272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45360" y="4941168"/>
            <a:ext cx="5953398" cy="8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0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MARBLE</a:t>
            </a:r>
            <a:r>
              <a:rPr lang="zh-TW" altLang="en-US" dirty="0" smtClean="0"/>
              <a:t> </a:t>
            </a:r>
            <a:r>
              <a:rPr lang="en-US" altLang="zh-TW" dirty="0"/>
              <a:t>Benchmark</a:t>
            </a:r>
            <a:br>
              <a:rPr lang="en-US" altLang="zh-TW" dirty="0"/>
            </a:br>
            <a:r>
              <a:rPr lang="en-US" altLang="zh-TW" sz="3200" b="0" dirty="0"/>
              <a:t>Music Audio Representation Benchmark for </a:t>
            </a:r>
            <a:r>
              <a:rPr lang="en-US" altLang="zh-TW" sz="3200" b="0" dirty="0" err="1"/>
              <a:t>universaL</a:t>
            </a:r>
            <a:r>
              <a:rPr lang="en-US" altLang="zh-TW" sz="3200" b="0" dirty="0"/>
              <a:t> Evaluation</a:t>
            </a:r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20</a:t>
            </a:fld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3750791" y="1103313"/>
            <a:ext cx="4690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https://marble-bm.shef.ac.uk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-38099"/>
            <a:ext cx="0" cy="5333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26960" tIns="152352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21" y="1772816"/>
            <a:ext cx="897436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7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MERT Outperforms CLMR</a:t>
            </a:r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21</a:t>
            </a:fld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3750791" y="1103313"/>
            <a:ext cx="4690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https://marble-bm.shef.ac.uk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-38099"/>
            <a:ext cx="0" cy="5333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26960" tIns="152352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21" y="1772816"/>
            <a:ext cx="8974362" cy="48245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5375920" y="5301208"/>
            <a:ext cx="720080" cy="432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375920" y="2901104"/>
            <a:ext cx="720080" cy="432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BEATS:</a:t>
            </a:r>
            <a:r>
              <a:rPr lang="zh-TW" altLang="en-US" dirty="0" smtClean="0"/>
              <a:t> </a:t>
            </a:r>
            <a:r>
              <a:rPr lang="en-US" altLang="zh-TW" dirty="0" smtClean="0"/>
              <a:t>Mel-Spectrogram + Acoustic Teacher Only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22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14" y="966271"/>
            <a:ext cx="10617384" cy="55175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87161" y="6341536"/>
            <a:ext cx="86031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“BEATs: Audio Pre-Training with Acoustic Tokenizers,”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ICML 2023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10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MuQ</a:t>
            </a:r>
            <a:r>
              <a:rPr lang="en-US" altLang="zh-TW" dirty="0" smtClean="0"/>
              <a:t>: </a:t>
            </a:r>
            <a:r>
              <a:rPr lang="en-US" altLang="zh-TW" dirty="0"/>
              <a:t>Mel-Spectrogram + Acoustic Teacher Only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72816"/>
            <a:ext cx="7009109" cy="4320480"/>
          </a:xfrm>
        </p:spPr>
        <p:txBody>
          <a:bodyPr/>
          <a:lstStyle/>
          <a:p>
            <a:r>
              <a:rPr lang="en-US" altLang="zh-TW" sz="2800" dirty="0" smtClean="0"/>
              <a:t>Outperforms </a:t>
            </a:r>
            <a:r>
              <a:rPr lang="en-US" altLang="zh-TW" sz="2800" dirty="0"/>
              <a:t>previous self-supervised music representation models with only 0.9K hours of </a:t>
            </a:r>
            <a:r>
              <a:rPr lang="en-US" altLang="zh-TW" sz="2800" dirty="0" smtClean="0"/>
              <a:t>open-source </a:t>
            </a:r>
            <a:r>
              <a:rPr lang="en-US" altLang="zh-TW" sz="2800" dirty="0"/>
              <a:t>pre-training </a:t>
            </a:r>
            <a:r>
              <a:rPr lang="en-US" altLang="zh-TW" sz="2800" dirty="0" smtClean="0"/>
              <a:t>data</a:t>
            </a:r>
          </a:p>
          <a:p>
            <a:pPr lvl="1"/>
            <a:r>
              <a:rPr lang="en-US" altLang="zh-TW" sz="2400" dirty="0"/>
              <a:t>All pre-training experiments are running with 32 A100- 40G </a:t>
            </a:r>
            <a:r>
              <a:rPr lang="en-US" altLang="zh-TW" sz="2400" dirty="0" smtClean="0"/>
              <a:t>GPUs</a:t>
            </a:r>
            <a:endParaRPr lang="en-US" altLang="zh-TW" sz="2400" dirty="0"/>
          </a:p>
          <a:p>
            <a:pPr lvl="1"/>
            <a:r>
              <a:rPr lang="en-US" altLang="zh-TW" sz="2400" dirty="0" smtClean="0"/>
              <a:t>Scaling </a:t>
            </a:r>
            <a:r>
              <a:rPr lang="en-US" altLang="zh-TW" sz="2400" dirty="0"/>
              <a:t>up the data to over 160K hours and adopting iterative training consistently improve the model performance</a:t>
            </a:r>
            <a:endParaRPr lang="zh-TW" altLang="en-US" sz="24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729" y="1844824"/>
            <a:ext cx="4056453" cy="4627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87161" y="5961702"/>
            <a:ext cx="67889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Zhu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“</a:t>
            </a:r>
            <a:r>
              <a:rPr lang="en-US" altLang="zh-TW" sz="2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MuQ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Self-supervised music representation learning with </a:t>
            </a:r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mel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residual vector quantization,”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TASLP 2025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41106" y="1103313"/>
            <a:ext cx="5909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https://github.com/tencent-ailab/muq</a:t>
            </a:r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50512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MERT-v2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1626533"/>
            <a:ext cx="10307288" cy="4966237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24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2770139" y="1052736"/>
            <a:ext cx="6651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huggingface.co/m-a-p/MERT-v2-30s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2495600" y="5589240"/>
            <a:ext cx="6912768" cy="1152880"/>
          </a:xfrm>
          <a:prstGeom prst="rect">
            <a:avLst/>
          </a:prstGeom>
          <a:solidFill>
            <a:srgbClr val="D2ECB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495600" y="646113"/>
            <a:ext cx="6912768" cy="622647"/>
          </a:xfrm>
          <a:prstGeom prst="rect">
            <a:avLst/>
          </a:prstGeom>
          <a:solidFill>
            <a:srgbClr val="FFCC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25</a:t>
            </a:fld>
            <a:endParaRPr lang="en-US" altLang="zh-TW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48592" y="0"/>
            <a:ext cx="6840760" cy="689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4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MERT-v2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26</a:t>
            </a:fld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124744"/>
            <a:ext cx="3952842" cy="4968552"/>
          </a:xfrm>
        </p:spPr>
        <p:txBody>
          <a:bodyPr/>
          <a:lstStyle/>
          <a:p>
            <a:r>
              <a:rPr lang="en-US" altLang="zh-TW" sz="2800" dirty="0" smtClean="0"/>
              <a:t>Layer guide (“All-layer MLP” </a:t>
            </a:r>
            <a:r>
              <a:rPr lang="en-US" altLang="zh-TW" sz="2800" dirty="0"/>
              <a:t>uses all 24 </a:t>
            </a:r>
            <a:r>
              <a:rPr lang="en-US" altLang="zh-TW" sz="2800" dirty="0" smtClean="0"/>
              <a:t>layers)</a:t>
            </a:r>
            <a:endParaRPr lang="zh-TW" altLang="en-US" sz="28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r="4101"/>
          <a:stretch/>
        </p:blipFill>
        <p:spPr>
          <a:xfrm>
            <a:off x="4727848" y="964775"/>
            <a:ext cx="6264696" cy="589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8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PupuJEPA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72816"/>
            <a:ext cx="11137900" cy="4320480"/>
          </a:xfrm>
        </p:spPr>
        <p:txBody>
          <a:bodyPr/>
          <a:lstStyle/>
          <a:p>
            <a:r>
              <a:rPr lang="en-US" altLang="zh-TW" sz="2800" dirty="0"/>
              <a:t>JEPA: </a:t>
            </a:r>
            <a:r>
              <a:rPr lang="en-US" altLang="zh-TW" sz="2800" dirty="0" smtClean="0"/>
              <a:t>joint embedding predictive architecture (predict missing </a:t>
            </a:r>
            <a:r>
              <a:rPr lang="en-US" altLang="zh-TW" sz="2800" dirty="0" err="1" smtClean="0"/>
              <a:t>latents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27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3359756" y="1052736"/>
            <a:ext cx="5472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github.com/sizigi/PupuM2D</a:t>
            </a:r>
            <a:r>
              <a:rPr lang="zh-TW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7161" y="6310584"/>
            <a:ext cx="109654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Frequency-aware self-supervised music representation learning,”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2026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43" y="2516162"/>
            <a:ext cx="9749116" cy="357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20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Music-JEPA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72816"/>
            <a:ext cx="5576083" cy="4320480"/>
          </a:xfrm>
        </p:spPr>
        <p:txBody>
          <a:bodyPr/>
          <a:lstStyle/>
          <a:p>
            <a:r>
              <a:rPr lang="en-US" altLang="zh-TW" sz="2800" dirty="0" smtClean="0"/>
              <a:t>A </a:t>
            </a:r>
            <a:r>
              <a:rPr lang="en-US" altLang="zh-TW" sz="2800" dirty="0"/>
              <a:t>world model of piano sound using JEPA by framing music as 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an </a:t>
            </a:r>
            <a:r>
              <a:rPr lang="en-US" altLang="zh-TW" sz="2800" dirty="0"/>
              <a:t>action-conditioned </a:t>
            </a:r>
            <a:r>
              <a:rPr lang="en-US" altLang="zh-TW" sz="2800" dirty="0" smtClean="0"/>
              <a:t>system</a:t>
            </a:r>
          </a:p>
          <a:p>
            <a:pPr lvl="1"/>
            <a:r>
              <a:rPr lang="en-US" altLang="zh-TW" sz="2400" dirty="0" smtClean="0"/>
              <a:t>The </a:t>
            </a:r>
            <a:r>
              <a:rPr lang="en-US" altLang="zh-TW" sz="2400" dirty="0"/>
              <a:t>audio is treated as the state, and </a:t>
            </a:r>
            <a:r>
              <a:rPr lang="en-US" altLang="zh-TW" sz="2400" dirty="0" err="1" smtClean="0"/>
              <a:t>pianoroll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as the instrument </a:t>
            </a:r>
            <a:r>
              <a:rPr lang="en-US" altLang="zh-TW" sz="2400" dirty="0" smtClean="0"/>
              <a:t>action</a:t>
            </a:r>
          </a:p>
          <a:p>
            <a:pPr lvl="1"/>
            <a:r>
              <a:rPr lang="en-US" altLang="zh-TW" sz="2400" dirty="0"/>
              <a:t>Given a current audio state and an action, the model predicts the resulting future audio state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28</a:t>
            </a:fld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2677325" y="1052736"/>
            <a:ext cx="6837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https://zzwaang.github.io/music-jepa-demo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/</a:t>
            </a:r>
            <a:r>
              <a:rPr lang="zh-TW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7162" y="5822678"/>
            <a:ext cx="57159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Wang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</a:t>
            </a:r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“Music-JEPA: Learning a 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world model of sound from action,”</a:t>
            </a:r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 err="1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2000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2026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41" y="1608788"/>
            <a:ext cx="5271834" cy="51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8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124743"/>
            <a:ext cx="11137900" cy="5257013"/>
          </a:xfrm>
        </p:spPr>
        <p:txBody>
          <a:bodyPr/>
          <a:lstStyle/>
          <a:p>
            <a:r>
              <a:rPr lang="en-US" altLang="zh-TW" sz="2800" dirty="0" smtClean="0"/>
              <a:t>Many pre-training strategies</a:t>
            </a:r>
          </a:p>
          <a:p>
            <a:pPr lvl="1"/>
            <a:r>
              <a:rPr lang="en-US" altLang="zh-TW" sz="2400" dirty="0" smtClean="0"/>
              <a:t>Predict/reconstruct </a:t>
            </a:r>
            <a:r>
              <a:rPr lang="en-US" altLang="zh-TW" sz="2400" dirty="0"/>
              <a:t>in </a:t>
            </a:r>
            <a:r>
              <a:rPr lang="en-US" altLang="zh-TW" sz="2400" b="1" dirty="0"/>
              <a:t>raw data </a:t>
            </a:r>
            <a:r>
              <a:rPr lang="en-US" altLang="zh-TW" sz="2400" b="1" dirty="0" smtClean="0"/>
              <a:t>space</a:t>
            </a:r>
          </a:p>
          <a:p>
            <a:pPr lvl="2"/>
            <a:r>
              <a:rPr lang="en-US" altLang="zh-TW" sz="2000" dirty="0" smtClean="0"/>
              <a:t>Generative </a:t>
            </a:r>
            <a:r>
              <a:rPr lang="en-US" altLang="zh-TW" sz="2000" dirty="0"/>
              <a:t>pre-training</a:t>
            </a:r>
            <a:r>
              <a:rPr lang="zh-TW" altLang="en-US" sz="2000" dirty="0"/>
              <a:t> </a:t>
            </a:r>
            <a:r>
              <a:rPr lang="en-US" altLang="zh-TW" sz="2000" dirty="0"/>
              <a:t>(e.g., AE or VQVAE)</a:t>
            </a:r>
          </a:p>
          <a:p>
            <a:pPr lvl="2"/>
            <a:r>
              <a:rPr lang="en-US" altLang="zh-TW" sz="2000" dirty="0"/>
              <a:t>Masked modelling</a:t>
            </a:r>
            <a:r>
              <a:rPr lang="en-US" altLang="zh-TW" sz="2000" b="1" dirty="0"/>
              <a:t> </a:t>
            </a:r>
            <a:r>
              <a:rPr lang="en-US" altLang="zh-TW" sz="2000" dirty="0"/>
              <a:t>(e.g., BERT or MAE)</a:t>
            </a:r>
          </a:p>
          <a:p>
            <a:pPr lvl="1"/>
            <a:r>
              <a:rPr lang="en-US" altLang="zh-TW" sz="2400" dirty="0" smtClean="0"/>
              <a:t>Operate entirely in </a:t>
            </a:r>
            <a:r>
              <a:rPr lang="en-US" altLang="zh-TW" sz="2400" b="1" dirty="0"/>
              <a:t>latent representation space</a:t>
            </a:r>
          </a:p>
          <a:p>
            <a:pPr lvl="2"/>
            <a:r>
              <a:rPr lang="en-US" altLang="zh-TW" sz="2000" dirty="0" smtClean="0"/>
              <a:t>Contrastive </a:t>
            </a:r>
            <a:r>
              <a:rPr lang="en-US" altLang="zh-TW" sz="2000" dirty="0" smtClean="0"/>
              <a:t>learning </a:t>
            </a:r>
            <a:r>
              <a:rPr lang="en-US" altLang="zh-TW" sz="2000" dirty="0" smtClean="0"/>
              <a:t>(</a:t>
            </a:r>
            <a:r>
              <a:rPr lang="en-US" altLang="zh-TW" sz="2000" dirty="0"/>
              <a:t>e.g., </a:t>
            </a:r>
            <a:r>
              <a:rPr lang="en-US" altLang="zh-TW" sz="2000" dirty="0" err="1"/>
              <a:t>SimCLR</a:t>
            </a:r>
            <a:r>
              <a:rPr lang="en-US" altLang="zh-TW" sz="2000" dirty="0"/>
              <a:t>)</a:t>
            </a:r>
            <a:endParaRPr lang="en-US" altLang="zh-TW" sz="2000" dirty="0" smtClean="0"/>
          </a:p>
          <a:p>
            <a:pPr lvl="2"/>
            <a:r>
              <a:rPr lang="en-US" altLang="zh-TW" sz="2000" dirty="0" smtClean="0"/>
              <a:t>Predictive </a:t>
            </a:r>
            <a:r>
              <a:rPr lang="en-US" altLang="zh-TW" sz="2000" dirty="0"/>
              <a:t>joint-embedding (e.g., JEPA</a:t>
            </a:r>
            <a:r>
              <a:rPr lang="en-US" altLang="zh-TW" sz="2000" dirty="0" smtClean="0"/>
              <a:t>)</a:t>
            </a:r>
          </a:p>
          <a:p>
            <a:pPr lvl="1"/>
            <a:endParaRPr lang="en-US" altLang="zh-TW" sz="2000" dirty="0"/>
          </a:p>
          <a:p>
            <a:r>
              <a:rPr lang="en-US" altLang="zh-TW" sz="2800" dirty="0" err="1" smtClean="0"/>
              <a:t>Finetuning</a:t>
            </a:r>
            <a:r>
              <a:rPr lang="en-US" altLang="zh-TW" sz="2800" dirty="0" smtClean="0"/>
              <a:t> via linear probing</a:t>
            </a:r>
          </a:p>
          <a:p>
            <a:pPr lvl="1"/>
            <a:r>
              <a:rPr lang="en-US" altLang="zh-TW" sz="2400" dirty="0" smtClean="0"/>
              <a:t>Take a look at </a:t>
            </a:r>
            <a:r>
              <a:rPr lang="en-US" altLang="zh-TW" sz="2400" dirty="0"/>
              <a:t>MARBLE: </a:t>
            </a:r>
            <a:r>
              <a:rPr lang="en-US" altLang="zh-TW" sz="2400" dirty="0">
                <a:hlinkClick r:id="rId2"/>
              </a:rPr>
              <a:t>https://</a:t>
            </a:r>
            <a:r>
              <a:rPr lang="en-US" altLang="zh-TW" sz="2400" dirty="0" smtClean="0">
                <a:hlinkClick r:id="rId2"/>
              </a:rPr>
              <a:t>github.com/a43992899/MARBLE</a:t>
            </a:r>
            <a:r>
              <a:rPr lang="en-US" altLang="zh-TW" sz="2400" dirty="0" smtClean="0"/>
              <a:t> </a:t>
            </a:r>
            <a:endParaRPr lang="zh-TW" altLang="en-US" sz="2400" dirty="0"/>
          </a:p>
          <a:p>
            <a:pPr lvl="2"/>
            <a:r>
              <a:rPr lang="en-US" altLang="zh-TW" sz="2000" dirty="0"/>
              <a:t>Marble is a modular, configuration-driven suite for training, evaluating, and </a:t>
            </a:r>
            <a:r>
              <a:rPr lang="en-US" altLang="zh-TW" sz="2000" b="1" dirty="0"/>
              <a:t>performing inference on state-of-the-art </a:t>
            </a:r>
            <a:r>
              <a:rPr lang="en-US" altLang="zh-TW" sz="2000" b="1" dirty="0" err="1"/>
              <a:t>pretrained</a:t>
            </a:r>
            <a:r>
              <a:rPr lang="en-US" altLang="zh-TW" sz="2000" b="1" dirty="0"/>
              <a:t> music models</a:t>
            </a:r>
            <a:endParaRPr lang="zh-TW" altLang="en-US" sz="20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29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675" y="404664"/>
            <a:ext cx="435699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1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CNN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 err="1" smtClean="0"/>
                  <a:t>Transformer</a:t>
                </a:r>
                <a:r>
                  <a:rPr lang="en-US" altLang="zh-TW" dirty="0" smtClean="0"/>
                  <a:t> for Music Classification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46" y="1841238"/>
            <a:ext cx="5587321" cy="476863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2966" y="3268617"/>
            <a:ext cx="4745517" cy="312226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344" y="2540933"/>
            <a:ext cx="4959064" cy="344258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3533" y="476672"/>
            <a:ext cx="5325218" cy="264832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34185" y="1103313"/>
            <a:ext cx="10923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</a:t>
            </a:r>
            <a:r>
              <a:rPr lang="en-US" altLang="zh-TW" sz="2800" dirty="0" smtClean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github.com/minzwon/semi-supervised-music-tagging-transformer</a:t>
            </a:r>
            <a:r>
              <a:rPr lang="zh-TW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7161" y="6341536"/>
            <a:ext cx="7083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Ref: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Won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al.,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“Semi-supervised music tagging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Transformer,”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ISMIR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  <a:endParaRPr lang="zh-TW" altLang="en-US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787292"/>
            <a:ext cx="6289029" cy="4306003"/>
          </a:xfrm>
        </p:spPr>
        <p:txBody>
          <a:bodyPr/>
          <a:lstStyle/>
          <a:p>
            <a:r>
              <a:rPr lang="en-US" altLang="zh-TW" sz="2800" dirty="0"/>
              <a:t>Use </a:t>
            </a:r>
            <a:r>
              <a:rPr lang="en-US" altLang="zh-TW" sz="2800" dirty="0" smtClean="0"/>
              <a:t>Transformer </a:t>
            </a:r>
            <a:r>
              <a:rPr lang="en-US" altLang="zh-TW" sz="2800" dirty="0"/>
              <a:t>for temporal summary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5277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5561A-EF35-4F10-A947-9F83BB7BD27B}" type="slidenum">
              <a:rPr lang="en-US" altLang="zh-TW" smtClean="0"/>
              <a:pPr>
                <a:defRPr/>
              </a:pPr>
              <a:t>31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1" y="8231"/>
            <a:ext cx="9564435" cy="452500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16" y="4533237"/>
            <a:ext cx="7573432" cy="656364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448" y="4533237"/>
            <a:ext cx="8297433" cy="406774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00" y="8613157"/>
            <a:ext cx="938343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4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1_template-2(靜態)">
  <a:themeElements>
    <a:clrScheme name="1_template-2(靜態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template-2(靜態)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1_template-2(靜態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mplate-2(靜態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mplate-2(靜態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mplate-2(靜態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mplate-2(靜態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mplate-2(靜態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mplate-2(靜態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51759</TotalTime>
  <Words>1420</Words>
  <Application>Microsoft Office PowerPoint</Application>
  <PresentationFormat>寬螢幕</PresentationFormat>
  <Paragraphs>198</Paragraphs>
  <Slides>31</Slides>
  <Notes>1</Notes>
  <HiddenSlides>2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Arial Unicode MS</vt:lpstr>
      <vt:lpstr>新細明體</vt:lpstr>
      <vt:lpstr>標楷體</vt:lpstr>
      <vt:lpstr>Arial</vt:lpstr>
      <vt:lpstr>Calibri</vt:lpstr>
      <vt:lpstr>Cambria Math</vt:lpstr>
      <vt:lpstr>Courier New</vt:lpstr>
      <vt:lpstr>Times New Roman</vt:lpstr>
      <vt:lpstr>Wingdings</vt:lpstr>
      <vt:lpstr>1_template-2(靜態)</vt:lpstr>
      <vt:lpstr>PowerPoint 簡報</vt:lpstr>
      <vt:lpstr>Music Foundation Models</vt:lpstr>
      <vt:lpstr>Copyright-free Music Datasets; Good for Pre-Training</vt:lpstr>
      <vt:lpstr>Pre-Training Strategies</vt:lpstr>
      <vt:lpstr>Self-Supervised Learning (SSL)</vt:lpstr>
      <vt:lpstr>Generative Pre-training: Contrastive Predictive Coding</vt:lpstr>
      <vt:lpstr>Contrastive Learning: SimCLR</vt:lpstr>
      <vt:lpstr>SimCLR</vt:lpstr>
      <vt:lpstr>Exemplar Model: CLMR</vt:lpstr>
      <vt:lpstr>Sample Code</vt:lpstr>
      <vt:lpstr>Sample Code: Creating Positive Pairs</vt:lpstr>
      <vt:lpstr>Sample Code: SampleCNN Encoder</vt:lpstr>
      <vt:lpstr>Sample Code: InfoNCE</vt:lpstr>
      <vt:lpstr>Sample Code: InfoNCE (Cont’)</vt:lpstr>
      <vt:lpstr>Sample Code: Supervised Finetuning</vt:lpstr>
      <vt:lpstr>Exemplar Model: CLMR</vt:lpstr>
      <vt:lpstr>Pre-Training Strategies</vt:lpstr>
      <vt:lpstr>MERT: “M”usic Version of BERT</vt:lpstr>
      <vt:lpstr>MERT</vt:lpstr>
      <vt:lpstr>MARBLE Benchmark Music Audio Representation Benchmark for universaL Evaluation</vt:lpstr>
      <vt:lpstr>MERT Outperforms CLMR</vt:lpstr>
      <vt:lpstr>BEATS: Mel-Spectrogram + Acoustic Teacher Only</vt:lpstr>
      <vt:lpstr>MuQ: Mel-Spectrogram + Acoustic Teacher Only</vt:lpstr>
      <vt:lpstr>MERT-v2</vt:lpstr>
      <vt:lpstr>PowerPoint 簡報</vt:lpstr>
      <vt:lpstr>MERT-v2</vt:lpstr>
      <vt:lpstr>PupuJEPA</vt:lpstr>
      <vt:lpstr>Music-JEPA</vt:lpstr>
      <vt:lpstr>Summary</vt:lpstr>
      <vt:lpstr>CNN+Transformer for Music Classification</vt:lpstr>
      <vt:lpstr>PowerPoint 簡報</vt:lpstr>
    </vt:vector>
  </TitlesOfParts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ingrid</dc:creator>
  <cp:lastModifiedBy>Yi-Hsuan Yang</cp:lastModifiedBy>
  <cp:revision>10168</cp:revision>
  <cp:lastPrinted>2026-09-15T03:03:09Z</cp:lastPrinted>
  <dcterms:created xsi:type="dcterms:W3CDTF">2005-05-05T03:55:43Z</dcterms:created>
  <dcterms:modified xsi:type="dcterms:W3CDTF">2026-09-15T03:03:12Z</dcterms:modified>
</cp:coreProperties>
</file>